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1532083"/>
            <a:ext cx="4143375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0B981"/>
                </a:solidFill>
              </a:rPr>
              <a:t>EnergiSight :</a:t>
            </a:r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0B981"/>
                </a:solidFill>
              </a:rPr>
              <a:t>
</a:t>
            </a:r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0B981"/>
                </a:solidFill>
              </a:rPr>
              <a:t>IA &amp; Efficacité </a:t>
            </a:r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0B981"/>
                </a:solidFill>
              </a:rPr>
              <a:t>Énergétique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3212260"/>
            <a:ext cx="4143375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8FAFC">
                    <a:alpha val="90000"/>
                  </a:srgbClr>
                </a:solidFill>
              </a:rPr>
              <a:t>Vers une souveraineté énergétique pilotée par la donnée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428625" y="4165950"/>
            <a:ext cx="41433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B981"/>
                </a:solidFill>
              </a:rPr>
              <a:t>NADAJAK Moyinib Pierre Damien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428625" y="4457058"/>
            <a:ext cx="41433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GreenSight Lomé | Programme D-CLIC (OIF) | 2026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4572000" y="511392"/>
            <a:ext cx="4572000" cy="41206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0" y="511392"/>
            <a:ext cx="28575" cy="41206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Shape 6"/>
          <p:cNvSpPr/>
          <p:nvPr/>
        </p:nvSpPr>
        <p:spPr>
          <a:xfrm>
            <a:off x="5457351" y="1807341"/>
            <a:ext cx="1329212" cy="6929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924" y="1893066"/>
            <a:ext cx="300038" cy="3000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43076" y="2278828"/>
            <a:ext cx="11577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OIF / Programme D-CLIC</a:t>
            </a:r>
            <a:endParaRPr lang="en-US" sz="727" dirty="0"/>
          </a:p>
        </p:txBody>
      </p:sp>
      <p:sp>
        <p:nvSpPr>
          <p:cNvPr id="12" name="Shape 8"/>
          <p:cNvSpPr/>
          <p:nvPr/>
        </p:nvSpPr>
        <p:spPr>
          <a:xfrm>
            <a:off x="6929438" y="1807341"/>
            <a:ext cx="1329212" cy="6929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4011" y="1893066"/>
            <a:ext cx="300038" cy="30003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15163" y="2278828"/>
            <a:ext cx="11577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Togo)</a:t>
            </a:r>
            <a:endParaRPr lang="en-US" sz="727" dirty="0"/>
          </a:p>
        </p:txBody>
      </p:sp>
      <p:sp>
        <p:nvSpPr>
          <p:cNvPr id="15" name="Shape 10"/>
          <p:cNvSpPr/>
          <p:nvPr/>
        </p:nvSpPr>
        <p:spPr>
          <a:xfrm>
            <a:off x="5457351" y="2643160"/>
            <a:ext cx="1329212" cy="6929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9429" y="2728885"/>
            <a:ext cx="225028" cy="30003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543076" y="3114647"/>
            <a:ext cx="11577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CEET Togo</a:t>
            </a:r>
            <a:endParaRPr lang="en-US" sz="727" dirty="0"/>
          </a:p>
        </p:txBody>
      </p:sp>
      <p:sp>
        <p:nvSpPr>
          <p:cNvPr id="18" name="Shape 12"/>
          <p:cNvSpPr/>
          <p:nvPr/>
        </p:nvSpPr>
        <p:spPr>
          <a:xfrm>
            <a:off x="6929438" y="2643160"/>
            <a:ext cx="1329212" cy="6929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4011" y="2728885"/>
            <a:ext cx="300038" cy="30003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015163" y="3114647"/>
            <a:ext cx="11577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Data Science &amp; AI</a:t>
            </a:r>
            <a:endParaRPr lang="en-US" sz="72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6613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F172A"/>
                </a:solidFill>
              </a:rPr>
              <a:t>Contexte : Une Urbanisation sous Pression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749716"/>
            <a:ext cx="3714750" cy="128766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1892591"/>
            <a:ext cx="3286125" cy="700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731" b="1" dirty="0">
                <a:solidFill>
                  <a:srgbClr val="10B981"/>
                </a:solidFill>
              </a:rPr>
              <a:t>&gt; 4% / an</a:t>
            </a:r>
            <a:endParaRPr lang="en-US" sz="3731" dirty="0"/>
          </a:p>
        </p:txBody>
      </p:sp>
      <p:sp>
        <p:nvSpPr>
          <p:cNvPr id="6" name="Text 3"/>
          <p:cNvSpPr/>
          <p:nvPr/>
        </p:nvSpPr>
        <p:spPr>
          <a:xfrm>
            <a:off x="785813" y="2592679"/>
            <a:ext cx="3286125" cy="337542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Croissance urbaine estimée pour le Grand Lomé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3180252"/>
            <a:ext cx="3714750" cy="17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4155"/>
                </a:solidFill>
              </a:rPr>
              <a:t>Lomé fait face à une </a:t>
            </a:r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0F172A"/>
                </a:solidFill>
              </a:rPr>
              <a:t>croissance urbaine rapide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4155"/>
                </a:solidFill>
              </a:rPr>
              <a:t> qui devance le développement des 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4155"/>
                </a:solidFill>
              </a:rPr>
              <a:t>infrastructures. 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4155"/>
                </a:solidFill>
              </a:rPr>
              <a:t>
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4155"/>
                </a:solidFill>
              </a:rPr>
              <a:t>
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4155"/>
                </a:solidFill>
              </a:rPr>
              <a:t> La planification énergétique souffre d'un </a:t>
            </a:r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0F172A"/>
                </a:solidFill>
              </a:rPr>
              <a:t>manque criant de données granulaires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4155"/>
                </a:solidFill>
              </a:rPr>
              <a:t> sur la 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4155"/>
                </a:solidFill>
              </a:rPr>
              <a:t>consommation réelle, créant une pression inédite 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4155"/>
                </a:solidFill>
              </a:rPr>
              <a:t>sur le réseau électrique national (CEET).</a:t>
            </a:r>
            <a:endParaRPr lang="en-US" sz="1159" dirty="0"/>
          </a:p>
        </p:txBody>
      </p:sp>
      <p:sp>
        <p:nvSpPr>
          <p:cNvPr id="8" name="Shape 5"/>
          <p:cNvSpPr/>
          <p:nvPr/>
        </p:nvSpPr>
        <p:spPr>
          <a:xfrm>
            <a:off x="4572000" y="1749716"/>
            <a:ext cx="4000500" cy="257175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438" y="1821154"/>
            <a:ext cx="3843338" cy="24860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0" y="4321466"/>
            <a:ext cx="4000500" cy="221456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Projection de la demande électrique (2020-2026)</a:t>
            </a:r>
            <a:endParaRPr lang="en-US" sz="7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6613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F172A"/>
                </a:solidFill>
              </a:rPr>
              <a:t>Le Problème : L'Asymétrie Informationnelle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821154"/>
            <a:ext cx="3857625" cy="218649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821154"/>
            <a:ext cx="3857625" cy="7143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3"/>
          <p:cNvSpPr/>
          <p:nvPr/>
        </p:nvSpPr>
        <p:spPr>
          <a:xfrm>
            <a:off x="4414838" y="1821154"/>
            <a:ext cx="14288" cy="218649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3993356"/>
            <a:ext cx="3857625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821154"/>
            <a:ext cx="14288" cy="218649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2106904"/>
            <a:ext cx="300038" cy="342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00163" y="2122084"/>
            <a:ext cx="2109081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F172A"/>
                </a:solidFill>
              </a:rPr>
              <a:t>Seattle (Data Rich)</a:t>
            </a:r>
            <a:endParaRPr lang="en-US" sz="1602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804313"/>
            <a:ext cx="171450" cy="142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35856" y="2778416"/>
            <a:ext cx="260989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Systèmes de télé-relève (Smart Meters)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141855"/>
            <a:ext cx="171450" cy="1428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35856" y="3115959"/>
            <a:ext cx="211471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Open Data &amp; Audits historiques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479397"/>
            <a:ext cx="171450" cy="14287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35856" y="3453501"/>
            <a:ext cx="234744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Données structurées et accessibles</a:t>
            </a:r>
            <a:endParaRPr lang="en-US" sz="1050" dirty="0"/>
          </a:p>
        </p:txBody>
      </p:sp>
      <p:sp>
        <p:nvSpPr>
          <p:cNvPr id="17" name="Shape 10"/>
          <p:cNvSpPr/>
          <p:nvPr/>
        </p:nvSpPr>
        <p:spPr>
          <a:xfrm>
            <a:off x="4714875" y="1821154"/>
            <a:ext cx="3857625" cy="218649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1"/>
          <p:cNvSpPr/>
          <p:nvPr/>
        </p:nvSpPr>
        <p:spPr>
          <a:xfrm>
            <a:off x="4714875" y="1821154"/>
            <a:ext cx="3857625" cy="7143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Shape 12"/>
          <p:cNvSpPr/>
          <p:nvPr/>
        </p:nvSpPr>
        <p:spPr>
          <a:xfrm>
            <a:off x="8558213" y="1821154"/>
            <a:ext cx="14288" cy="218649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Shape 13"/>
          <p:cNvSpPr/>
          <p:nvPr/>
        </p:nvSpPr>
        <p:spPr>
          <a:xfrm>
            <a:off x="4714875" y="3993356"/>
            <a:ext cx="3857625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4"/>
          <p:cNvSpPr/>
          <p:nvPr/>
        </p:nvSpPr>
        <p:spPr>
          <a:xfrm>
            <a:off x="4714875" y="1821154"/>
            <a:ext cx="14288" cy="218649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0625" y="2106904"/>
            <a:ext cx="342900" cy="3429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486400" y="2122084"/>
            <a:ext cx="197901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F172A"/>
                </a:solidFill>
              </a:rPr>
              <a:t>Lomé (Data Poor)</a:t>
            </a:r>
            <a:endParaRPr lang="en-US" sz="1602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0625" y="2804313"/>
            <a:ext cx="171450" cy="142875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279231" y="2778416"/>
            <a:ext cx="238701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Absence d'historique de facturation</a:t>
            </a:r>
            <a:endParaRPr lang="en-US" sz="105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0625" y="3141855"/>
            <a:ext cx="171450" cy="142875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279231" y="3115959"/>
            <a:ext cx="218342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Pas de smart meters généralisés</a:t>
            </a:r>
            <a:endParaRPr lang="en-US" sz="105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0625" y="3479397"/>
            <a:ext cx="171450" cy="142875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279231" y="3453501"/>
            <a:ext cx="271805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Relevés physiques coûteux et complexes</a:t>
            </a:r>
            <a:endParaRPr lang="en-US" sz="1050" dirty="0"/>
          </a:p>
        </p:txBody>
      </p:sp>
      <p:sp>
        <p:nvSpPr>
          <p:cNvPr id="30" name="Shape 19"/>
          <p:cNvSpPr/>
          <p:nvPr/>
        </p:nvSpPr>
        <p:spPr>
          <a:xfrm>
            <a:off x="1064558" y="4293394"/>
            <a:ext cx="7014883" cy="56435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1" name="Text 20"/>
          <p:cNvSpPr/>
          <p:nvPr/>
        </p:nvSpPr>
        <p:spPr>
          <a:xfrm>
            <a:off x="1064558" y="4293394"/>
            <a:ext cx="7014883" cy="564356"/>
          </a:xfrm>
          <a:prstGeom prst="rect">
            <a:avLst/>
          </a:prstGeom>
          <a:noFill/>
          <a:ln/>
        </p:spPr>
        <p:txBody>
          <a:bodyPr wrap="square" lIns="255143" tIns="127508" rIns="255143" bIns="127508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0B981"/>
                </a:solidFill>
              </a:rPr>
              <a:t>Comment optimiser ce qu’on ne peut pas mesurer ?</a:t>
            </a:r>
            <a:endParaRPr lang="en-US" sz="180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6613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F172A"/>
                </a:solidFill>
              </a:rPr>
              <a:t>Objectif : Pallier le Manque de Données par l'IA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706854"/>
            <a:ext cx="8001000" cy="82153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706854"/>
            <a:ext cx="71438" cy="82153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3"/>
          <p:cNvSpPr/>
          <p:nvPr/>
        </p:nvSpPr>
        <p:spPr>
          <a:xfrm>
            <a:off x="857250" y="1821154"/>
            <a:ext cx="742950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0B981"/>
                </a:solidFill>
              </a:rPr>
              <a:t>Approche Stratégique : Le Saut Technologique</a:t>
            </a:r>
            <a:endParaRPr lang="en-US" sz="1808" dirty="0"/>
          </a:p>
        </p:txBody>
      </p:sp>
      <p:sp>
        <p:nvSpPr>
          <p:cNvPr id="7" name="Text 4"/>
          <p:cNvSpPr/>
          <p:nvPr/>
        </p:nvSpPr>
        <p:spPr>
          <a:xfrm>
            <a:off x="857250" y="2228348"/>
            <a:ext cx="7429500" cy="300038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F8FAFC"/>
                </a:solidFill>
              </a:rPr>
              <a:t>Agir sans attendre l'installation massive de compteurs.</a:t>
            </a:r>
            <a:endParaRPr lang="en-US" sz="1159" dirty="0"/>
          </a:p>
        </p:txBody>
      </p:sp>
      <p:sp>
        <p:nvSpPr>
          <p:cNvPr id="8" name="Shape 5"/>
          <p:cNvSpPr/>
          <p:nvPr/>
        </p:nvSpPr>
        <p:spPr>
          <a:xfrm>
            <a:off x="571500" y="2642685"/>
            <a:ext cx="2609841" cy="154840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806" y="274269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97601" y="3299910"/>
            <a:ext cx="195763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</a:rPr>
              <a:t>Intelligence Artificielle</a:t>
            </a:r>
            <a:endParaRPr lang="en-US" sz="1193" dirty="0"/>
          </a:p>
        </p:txBody>
      </p:sp>
      <p:sp>
        <p:nvSpPr>
          <p:cNvPr id="11" name="Text 7"/>
          <p:cNvSpPr/>
          <p:nvPr/>
        </p:nvSpPr>
        <p:spPr>
          <a:xfrm>
            <a:off x="785813" y="3605306"/>
            <a:ext cx="2181216" cy="471488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75569"/>
                </a:solidFill>
              </a:rPr>
              <a:t>Transformer les données urbaines en estimations de consommation.</a:t>
            </a:r>
            <a:endParaRPr lang="en-US" sz="942" dirty="0"/>
          </a:p>
        </p:txBody>
      </p:sp>
      <p:sp>
        <p:nvSpPr>
          <p:cNvPr id="12" name="Shape 8"/>
          <p:cNvSpPr/>
          <p:nvPr/>
        </p:nvSpPr>
        <p:spPr>
          <a:xfrm>
            <a:off x="3267066" y="2642685"/>
            <a:ext cx="2609841" cy="154840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372" y="2742698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10828" y="3299910"/>
            <a:ext cx="152231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</a:rPr>
              <a:t>Transfer Learning</a:t>
            </a:r>
            <a:endParaRPr lang="en-US" sz="1193" dirty="0"/>
          </a:p>
        </p:txBody>
      </p:sp>
      <p:sp>
        <p:nvSpPr>
          <p:cNvPr id="15" name="Text 10"/>
          <p:cNvSpPr/>
          <p:nvPr/>
        </p:nvSpPr>
        <p:spPr>
          <a:xfrm>
            <a:off x="3481378" y="3605306"/>
            <a:ext cx="2181216" cy="471488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75569"/>
                </a:solidFill>
              </a:rPr>
              <a:t>Appliquer l'apprentissage depuis villes bien documentées vers Lomé.</a:t>
            </a:r>
            <a:endParaRPr lang="en-US" sz="942" dirty="0"/>
          </a:p>
        </p:txBody>
      </p:sp>
      <p:sp>
        <p:nvSpPr>
          <p:cNvPr id="16" name="Shape 11"/>
          <p:cNvSpPr/>
          <p:nvPr/>
        </p:nvSpPr>
        <p:spPr>
          <a:xfrm>
            <a:off x="5962631" y="2642685"/>
            <a:ext cx="2609869" cy="154840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8966" y="2742698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18309" y="3299910"/>
            <a:ext cx="149848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</a:rPr>
              <a:t>Aide à la Décision</a:t>
            </a:r>
            <a:endParaRPr lang="en-US" sz="1193" dirty="0"/>
          </a:p>
        </p:txBody>
      </p:sp>
      <p:sp>
        <p:nvSpPr>
          <p:cNvPr id="19" name="Text 13"/>
          <p:cNvSpPr/>
          <p:nvPr/>
        </p:nvSpPr>
        <p:spPr>
          <a:xfrm>
            <a:off x="6176944" y="3605306"/>
            <a:ext cx="2181244" cy="471488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75569"/>
                </a:solidFill>
              </a:rPr>
              <a:t>Fournir un outil opérationnel pour la planification urbaine.</a:t>
            </a:r>
            <a:endParaRPr lang="en-US" sz="942" dirty="0"/>
          </a:p>
        </p:txBody>
      </p:sp>
      <p:sp>
        <p:nvSpPr>
          <p:cNvPr id="20" name="Text 14"/>
          <p:cNvSpPr/>
          <p:nvPr/>
        </p:nvSpPr>
        <p:spPr>
          <a:xfrm>
            <a:off x="571500" y="4391118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</a:rPr>
              <a:t>Résultat : Un </a:t>
            </a:r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B981"/>
                </a:solidFill>
              </a:rPr>
              <a:t>outil d'aide à la décision</a:t>
            </a:r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</a:rPr>
              <a:t> pour la gouvernance climatique.</a:t>
            </a:r>
            <a:endParaRPr lang="en-US" sz="119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6613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F172A"/>
                </a:solidFill>
              </a:rPr>
              <a:t>L'Écosystème de Données : Global vs Local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606841"/>
            <a:ext cx="3131809" cy="2314575"/>
          </a:xfrm>
          <a:prstGeom prst="rect">
            <a:avLst/>
          </a:prstGeom>
          <a:solidFill>
            <a:srgbClr val="FFFFFF"/>
          </a:solidFill>
          <a:ln w="18288">
            <a:solidFill>
              <a:srgbClr val="E2E8F0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766683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0131" y="1764004"/>
            <a:ext cx="155831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</a:rPr>
              <a:t>Seattle Open Data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714375" y="2178341"/>
            <a:ext cx="93457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F172A"/>
                </a:solidFill>
              </a:rPr>
              <a:t>L'Intelligence :</a:t>
            </a:r>
            <a:endParaRPr lang="en-US" sz="885" dirty="0"/>
          </a:p>
        </p:txBody>
      </p:sp>
      <p:sp>
        <p:nvSpPr>
          <p:cNvPr id="8" name="Text 4"/>
          <p:cNvSpPr/>
          <p:nvPr/>
        </p:nvSpPr>
        <p:spPr>
          <a:xfrm>
            <a:off x="857250" y="2419443"/>
            <a:ext cx="270318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4155"/>
                </a:solidFill>
              </a:rPr>
              <a:t>3 376 bâtiments non résidentiels</a:t>
            </a:r>
            <a:endParaRPr lang="en-US" sz="942" dirty="0"/>
          </a:p>
        </p:txBody>
      </p:sp>
      <p:sp>
        <p:nvSpPr>
          <p:cNvPr id="9" name="Text 5"/>
          <p:cNvSpPr/>
          <p:nvPr/>
        </p:nvSpPr>
        <p:spPr>
          <a:xfrm>
            <a:off x="857250" y="2612324"/>
            <a:ext cx="270318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4155"/>
                </a:solidFill>
              </a:rPr>
              <a:t>Variables : Surface, Émissions, Usage, Énergie</a:t>
            </a:r>
            <a:endParaRPr lang="en-US" sz="942" dirty="0"/>
          </a:p>
        </p:txBody>
      </p:sp>
      <p:sp>
        <p:nvSpPr>
          <p:cNvPr id="10" name="Text 6"/>
          <p:cNvSpPr/>
          <p:nvPr/>
        </p:nvSpPr>
        <p:spPr>
          <a:xfrm>
            <a:off x="857250" y="2998087"/>
            <a:ext cx="270318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4155"/>
                </a:solidFill>
              </a:rPr>
              <a:t>Lois physiques de consommation</a:t>
            </a:r>
            <a:endParaRPr lang="en-US" sz="942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4816" y="2121191"/>
            <a:ext cx="214313" cy="342900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372" y="2535529"/>
            <a:ext cx="457200" cy="457200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4816" y="2992729"/>
            <a:ext cx="214313" cy="34290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440663" y="1606841"/>
            <a:ext cx="3131837" cy="2314575"/>
          </a:xfrm>
          <a:prstGeom prst="rect">
            <a:avLst/>
          </a:prstGeom>
          <a:solidFill>
            <a:srgbClr val="FFFFFF"/>
          </a:solidFill>
          <a:ln w="18288">
            <a:solidFill>
              <a:srgbClr val="E2E8F0"/>
            </a:solidFill>
            <a:prstDash val="solid"/>
          </a:ln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3538" y="1752395"/>
            <a:ext cx="257175" cy="2286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947870" y="1749716"/>
            <a:ext cx="20469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</a:rPr>
              <a:t>OpenStreetMap &amp; RGPH</a:t>
            </a:r>
            <a:endParaRPr lang="en-US" sz="1193" dirty="0"/>
          </a:p>
        </p:txBody>
      </p:sp>
      <p:sp>
        <p:nvSpPr>
          <p:cNvPr id="17" name="Text 9"/>
          <p:cNvSpPr/>
          <p:nvPr/>
        </p:nvSpPr>
        <p:spPr>
          <a:xfrm>
            <a:off x="5583538" y="2164054"/>
            <a:ext cx="11843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F172A"/>
                </a:solidFill>
              </a:rPr>
              <a:t>Le Terrain (Lomé) :</a:t>
            </a:r>
            <a:endParaRPr lang="en-US" sz="885" dirty="0"/>
          </a:p>
        </p:txBody>
      </p:sp>
      <p:sp>
        <p:nvSpPr>
          <p:cNvPr id="18" name="Text 10"/>
          <p:cNvSpPr/>
          <p:nvPr/>
        </p:nvSpPr>
        <p:spPr>
          <a:xfrm>
            <a:off x="5726413" y="2405156"/>
            <a:ext cx="270321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4155"/>
                </a:solidFill>
              </a:rPr>
              <a:t>~1.5M structures identifiées</a:t>
            </a:r>
            <a:endParaRPr lang="en-US" sz="942" dirty="0"/>
          </a:p>
        </p:txBody>
      </p:sp>
      <p:sp>
        <p:nvSpPr>
          <p:cNvPr id="19" name="Text 11"/>
          <p:cNvSpPr/>
          <p:nvPr/>
        </p:nvSpPr>
        <p:spPr>
          <a:xfrm>
            <a:off x="5726413" y="2598037"/>
            <a:ext cx="270321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4155"/>
                </a:solidFill>
              </a:rPr>
              <a:t>Empreinte au sol (m²)</a:t>
            </a:r>
            <a:endParaRPr lang="en-US" sz="942" dirty="0"/>
          </a:p>
        </p:txBody>
      </p:sp>
      <p:sp>
        <p:nvSpPr>
          <p:cNvPr id="20" name="Text 12"/>
          <p:cNvSpPr/>
          <p:nvPr/>
        </p:nvSpPr>
        <p:spPr>
          <a:xfrm>
            <a:off x="5726413" y="2790918"/>
            <a:ext cx="270321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4155"/>
                </a:solidFill>
              </a:rPr>
              <a:t>Matériaux (Banco/Béton)</a:t>
            </a:r>
            <a:endParaRPr lang="en-US" sz="942" dirty="0"/>
          </a:p>
        </p:txBody>
      </p:sp>
      <p:sp>
        <p:nvSpPr>
          <p:cNvPr id="21" name="Shape 13"/>
          <p:cNvSpPr/>
          <p:nvPr/>
        </p:nvSpPr>
        <p:spPr>
          <a:xfrm>
            <a:off x="571500" y="4050004"/>
            <a:ext cx="8001000" cy="726877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Text 14"/>
          <p:cNvSpPr/>
          <p:nvPr/>
        </p:nvSpPr>
        <p:spPr>
          <a:xfrm>
            <a:off x="785813" y="4328610"/>
            <a:ext cx="2220171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Modèle EnergiSight</a:t>
            </a:r>
            <a:endParaRPr lang="en-US" sz="1602" dirty="0"/>
          </a:p>
        </p:txBody>
      </p:sp>
      <p:sp>
        <p:nvSpPr>
          <p:cNvPr id="23" name="Text 15"/>
          <p:cNvSpPr/>
          <p:nvPr/>
        </p:nvSpPr>
        <p:spPr>
          <a:xfrm>
            <a:off x="3010309" y="4192879"/>
            <a:ext cx="5000625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Fusion de l'intelligence globale et des spécificités locales pour une </a:t>
            </a:r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8FAFC"/>
                </a:solidFill>
              </a:rPr>
              <a:t>estimation précise de la consommation &amp; du CO₂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 à l'échelle du 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bâtiment.</a:t>
            </a:r>
            <a:endParaRPr lang="en-US" sz="105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5260" y="4313430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6613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F172A"/>
                </a:solidFill>
              </a:rPr>
              <a:t>Méthodologie : Le Transfert d'Apprentissage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428625" y="2035466"/>
            <a:ext cx="1964531" cy="2647262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28625" y="2035466"/>
            <a:ext cx="1964531" cy="376833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3"/>
          <p:cNvSpPr/>
          <p:nvPr/>
        </p:nvSpPr>
        <p:spPr>
          <a:xfrm>
            <a:off x="428625" y="2035466"/>
            <a:ext cx="1964531" cy="376833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01</a:t>
            </a:r>
            <a:endParaRPr lang="en-US" sz="1193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291" y="2683762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2115" y="3376706"/>
            <a:ext cx="1117522" cy="233958"/>
          </a:xfrm>
          <a:prstGeom prst="rect">
            <a:avLst/>
          </a:prstGeom>
          <a:noFill/>
          <a:ln/>
        </p:spPr>
        <p:txBody>
          <a:bodyPr wrap="none" lIns="127508" tIns="0" rIns="127508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</a:rPr>
              <a:t>Nettoyage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428625" y="3753538"/>
            <a:ext cx="1964531" cy="514350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75569"/>
                </a:solidFill>
              </a:rPr>
              <a:t>Suppression des </a:t>
            </a:r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75569"/>
                </a:solidFill>
              </a:rPr>
              <a:t>outliers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75569"/>
                </a:solidFill>
              </a:rPr>
              <a:t> et 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75569"/>
                </a:solidFill>
              </a:rPr>
              <a:t>des variables non 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75569"/>
                </a:solidFill>
              </a:rPr>
              <a:t>transférables entre les 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75569"/>
                </a:solidFill>
              </a:rPr>
              <a:t>domaines.</a:t>
            </a:r>
            <a:endParaRPr lang="en-US" sz="834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438" y="3242118"/>
            <a:ext cx="142875" cy="2286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536031" y="2035466"/>
            <a:ext cx="1964531" cy="2647262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2536031" y="2035466"/>
            <a:ext cx="1964531" cy="376833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8"/>
          <p:cNvSpPr/>
          <p:nvPr/>
        </p:nvSpPr>
        <p:spPr>
          <a:xfrm>
            <a:off x="2536031" y="2035466"/>
            <a:ext cx="1964531" cy="376833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02</a:t>
            </a:r>
            <a:endParaRPr lang="en-US" sz="1193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9697" y="2683762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768008" y="3376706"/>
            <a:ext cx="1500550" cy="233958"/>
          </a:xfrm>
          <a:prstGeom prst="rect">
            <a:avLst/>
          </a:prstGeom>
          <a:noFill/>
          <a:ln/>
        </p:spPr>
        <p:txBody>
          <a:bodyPr wrap="none" lIns="127508" tIns="0" rIns="127508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</a:rPr>
              <a:t>Harmonisation</a:t>
            </a:r>
            <a:endParaRPr lang="en-US" sz="1193" dirty="0"/>
          </a:p>
        </p:txBody>
      </p:sp>
      <p:sp>
        <p:nvSpPr>
          <p:cNvPr id="16" name="Text 10"/>
          <p:cNvSpPr/>
          <p:nvPr/>
        </p:nvSpPr>
        <p:spPr>
          <a:xfrm>
            <a:off x="2536031" y="3753538"/>
            <a:ext cx="1964531" cy="514350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75569"/>
                </a:solidFill>
              </a:rPr>
              <a:t>Réduction à </a:t>
            </a:r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75569"/>
                </a:solidFill>
              </a:rPr>
              <a:t>4 variables universelles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75569"/>
                </a:solidFill>
              </a:rPr>
              <a:t> : Surface, Étages, 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75569"/>
                </a:solidFill>
              </a:rPr>
              <a:t>Usage et Qualité.</a:t>
            </a:r>
            <a:endParaRPr lang="en-US" sz="834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4844" y="3242118"/>
            <a:ext cx="142875" cy="22860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4643438" y="2035466"/>
            <a:ext cx="1964531" cy="2647262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4643438" y="2035466"/>
            <a:ext cx="1964531" cy="376833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3"/>
          <p:cNvSpPr/>
          <p:nvPr/>
        </p:nvSpPr>
        <p:spPr>
          <a:xfrm>
            <a:off x="4643438" y="2035466"/>
            <a:ext cx="1964531" cy="376833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03</a:t>
            </a:r>
            <a:endParaRPr lang="en-US" sz="1193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7103" y="2683762"/>
            <a:ext cx="457200" cy="4572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851416" y="3376706"/>
            <a:ext cx="1548547" cy="233958"/>
          </a:xfrm>
          <a:prstGeom prst="rect">
            <a:avLst/>
          </a:prstGeom>
          <a:noFill/>
          <a:ln/>
        </p:spPr>
        <p:txBody>
          <a:bodyPr wrap="none" lIns="127508" tIns="0" rIns="127508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</a:rPr>
              <a:t>Transformation</a:t>
            </a:r>
            <a:endParaRPr lang="en-US" sz="1193" dirty="0"/>
          </a:p>
        </p:txBody>
      </p:sp>
      <p:sp>
        <p:nvSpPr>
          <p:cNvPr id="23" name="Text 15"/>
          <p:cNvSpPr/>
          <p:nvPr/>
        </p:nvSpPr>
        <p:spPr>
          <a:xfrm>
            <a:off x="4643438" y="3753538"/>
            <a:ext cx="1964531" cy="514350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75569"/>
                </a:solidFill>
              </a:rPr>
              <a:t>Application du </a:t>
            </a:r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75569"/>
                </a:solidFill>
              </a:rPr>
              <a:t>Log-Transform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75569"/>
                </a:solidFill>
              </a:rPr>
              <a:t> (ln(1+y)) pour corriger 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75569"/>
                </a:solidFill>
              </a:rPr>
              <a:t>l'asymétrie des données.</a:t>
            </a:r>
            <a:endParaRPr lang="en-US" sz="834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0" y="3242118"/>
            <a:ext cx="142875" cy="228600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6750844" y="2035466"/>
            <a:ext cx="1964531" cy="2647262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6" name="Shape 17"/>
          <p:cNvSpPr/>
          <p:nvPr/>
        </p:nvSpPr>
        <p:spPr>
          <a:xfrm>
            <a:off x="6750844" y="2035466"/>
            <a:ext cx="1964531" cy="376833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18"/>
          <p:cNvSpPr/>
          <p:nvPr/>
        </p:nvSpPr>
        <p:spPr>
          <a:xfrm>
            <a:off x="6750844" y="2035466"/>
            <a:ext cx="1964531" cy="376833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04</a:t>
            </a:r>
            <a:endParaRPr lang="en-US" sz="1193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4509" y="2683762"/>
            <a:ext cx="457200" cy="45720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7033915" y="3376706"/>
            <a:ext cx="1398361" cy="233958"/>
          </a:xfrm>
          <a:prstGeom prst="rect">
            <a:avLst/>
          </a:prstGeom>
          <a:noFill/>
          <a:ln/>
        </p:spPr>
        <p:txBody>
          <a:bodyPr wrap="none" lIns="127508" tIns="0" rIns="127508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</a:rPr>
              <a:t>Entraînement</a:t>
            </a:r>
            <a:endParaRPr lang="en-US" sz="1193" dirty="0"/>
          </a:p>
        </p:txBody>
      </p:sp>
      <p:sp>
        <p:nvSpPr>
          <p:cNvPr id="30" name="Text 20"/>
          <p:cNvSpPr/>
          <p:nvPr/>
        </p:nvSpPr>
        <p:spPr>
          <a:xfrm>
            <a:off x="6750844" y="3753538"/>
            <a:ext cx="1964531" cy="514350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75569"/>
                </a:solidFill>
              </a:rPr>
              <a:t>Algorithme </a:t>
            </a:r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75569"/>
                </a:solidFill>
              </a:rPr>
              <a:t>XGBoost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75569"/>
                </a:solidFill>
              </a:rPr>
              <a:t> entraîné 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75569"/>
                </a:solidFill>
              </a:rPr>
              <a:t>sur le domaine source pour 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75569"/>
                </a:solidFill>
              </a:rPr>
              <a:t>apprendre les lois physiques.</a:t>
            </a:r>
            <a:endParaRPr lang="en-US" sz="834" dirty="0"/>
          </a:p>
        </p:txBody>
      </p:sp>
      <p:sp>
        <p:nvSpPr>
          <p:cNvPr id="31" name="Shape 21"/>
          <p:cNvSpPr/>
          <p:nvPr/>
        </p:nvSpPr>
        <p:spPr>
          <a:xfrm>
            <a:off x="0" y="4682728"/>
            <a:ext cx="9144000" cy="46077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2" name="Text 22"/>
          <p:cNvSpPr/>
          <p:nvPr/>
        </p:nvSpPr>
        <p:spPr>
          <a:xfrm>
            <a:off x="0" y="4682728"/>
            <a:ext cx="9144000" cy="460772"/>
          </a:xfrm>
          <a:prstGeom prst="rect">
            <a:avLst/>
          </a:prstGeom>
          <a:noFill/>
          <a:ln/>
        </p:spPr>
        <p:txBody>
          <a:bodyPr wrap="square" lIns="680339" tIns="170053" rIns="680339" bIns="170053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8FAFC"/>
                </a:solidFill>
              </a:rPr>
              <a:t>Apprendre les lois physiques à </a:t>
            </a:r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0B981"/>
                </a:solidFill>
              </a:rPr>
              <a:t>Seattle</a:t>
            </a:r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8FAFC"/>
                </a:solidFill>
              </a:rPr>
              <a:t> pour les appliquer à </a:t>
            </a:r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0B981"/>
                </a:solidFill>
              </a:rPr>
              <a:t>Lomé</a:t>
            </a:r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8FAFC"/>
                </a:solidFill>
              </a:rPr>
              <a:t>.</a:t>
            </a:r>
            <a:endParaRPr lang="en-US" sz="94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527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89511"/>
            <a:ext cx="8572500" cy="85725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26" b="1" dirty="0">
                <a:solidFill>
                  <a:srgbClr val="0F172A"/>
                </a:solidFill>
              </a:rPr>
              <a:t>Le Moteur Algorithmique : XGBoost &amp; Feature Engineering</a:t>
            </a:r>
            <a:endParaRPr lang="en-US" sz="2226" dirty="0"/>
          </a:p>
        </p:txBody>
      </p:sp>
      <p:sp>
        <p:nvSpPr>
          <p:cNvPr id="4" name="Shape 1"/>
          <p:cNvSpPr/>
          <p:nvPr/>
        </p:nvSpPr>
        <p:spPr>
          <a:xfrm>
            <a:off x="571500" y="2164835"/>
            <a:ext cx="2828925" cy="10876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2379148"/>
            <a:ext cx="240030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0B981"/>
                </a:solidFill>
              </a:rPr>
              <a:t>XGBoost Regressor</a:t>
            </a:r>
            <a:endParaRPr lang="en-US" sz="1397" dirty="0"/>
          </a:p>
        </p:txBody>
      </p:sp>
      <p:sp>
        <p:nvSpPr>
          <p:cNvPr id="6" name="Text 3"/>
          <p:cNvSpPr/>
          <p:nvPr/>
        </p:nvSpPr>
        <p:spPr>
          <a:xfrm>
            <a:off x="785813" y="2723834"/>
            <a:ext cx="2400300" cy="528638"/>
          </a:xfrm>
          <a:prstGeom prst="rect">
            <a:avLst/>
          </a:prstGeom>
          <a:noFill/>
          <a:ln/>
        </p:spPr>
        <p:txBody>
          <a:bodyPr wrap="square" lIns="0" tIns="0" rIns="0" bIns="21259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Extreme Gradient Boosting pour une précision optimale.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571500" y="3395346"/>
            <a:ext cx="285750" cy="28575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69" y="3481071"/>
            <a:ext cx="100013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0125" y="3395346"/>
            <a:ext cx="143162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</a:rPr>
              <a:t>PropertyGFATotal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1000125" y="3590013"/>
            <a:ext cx="143162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Surface totale du bâtiment</a:t>
            </a:r>
            <a:endParaRPr lang="en-US" sz="834" dirty="0"/>
          </a:p>
        </p:txBody>
      </p:sp>
      <p:sp>
        <p:nvSpPr>
          <p:cNvPr id="11" name="Shape 7"/>
          <p:cNvSpPr/>
          <p:nvPr/>
        </p:nvSpPr>
        <p:spPr>
          <a:xfrm>
            <a:off x="571500" y="3859690"/>
            <a:ext cx="285750" cy="28575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3945415"/>
            <a:ext cx="114300" cy="114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0125" y="3859690"/>
            <a:ext cx="14621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</a:rPr>
              <a:t>NumberOfFloors</a:t>
            </a:r>
            <a:endParaRPr lang="en-US" sz="987" dirty="0"/>
          </a:p>
        </p:txBody>
      </p:sp>
      <p:sp>
        <p:nvSpPr>
          <p:cNvPr id="14" name="Text 9"/>
          <p:cNvSpPr/>
          <p:nvPr/>
        </p:nvSpPr>
        <p:spPr>
          <a:xfrm>
            <a:off x="1000125" y="4054357"/>
            <a:ext cx="14621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Hauteur (Nombre d'étages)</a:t>
            </a:r>
            <a:endParaRPr lang="en-US" sz="834" dirty="0"/>
          </a:p>
        </p:txBody>
      </p:sp>
      <p:sp>
        <p:nvSpPr>
          <p:cNvPr id="15" name="Shape 10"/>
          <p:cNvSpPr/>
          <p:nvPr/>
        </p:nvSpPr>
        <p:spPr>
          <a:xfrm>
            <a:off x="571500" y="4324034"/>
            <a:ext cx="285750" cy="28575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13" y="4409759"/>
            <a:ext cx="85725" cy="1143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0125" y="4324034"/>
            <a:ext cx="172033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</a:rPr>
              <a:t>PrimaryPropertyType</a:t>
            </a:r>
            <a:endParaRPr lang="en-US" sz="987" dirty="0"/>
          </a:p>
        </p:txBody>
      </p:sp>
      <p:sp>
        <p:nvSpPr>
          <p:cNvPr id="18" name="Text 12"/>
          <p:cNvSpPr/>
          <p:nvPr/>
        </p:nvSpPr>
        <p:spPr>
          <a:xfrm>
            <a:off x="1000125" y="4518701"/>
            <a:ext cx="172033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Usage (Bureau, Commerce, etc.)</a:t>
            </a:r>
            <a:endParaRPr lang="en-US" sz="834" dirty="0"/>
          </a:p>
        </p:txBody>
      </p:sp>
      <p:sp>
        <p:nvSpPr>
          <p:cNvPr id="19" name="Shape 13"/>
          <p:cNvSpPr/>
          <p:nvPr/>
        </p:nvSpPr>
        <p:spPr>
          <a:xfrm>
            <a:off x="571500" y="4788377"/>
            <a:ext cx="285750" cy="28575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656" y="4874102"/>
            <a:ext cx="71438" cy="1143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00125" y="4788377"/>
            <a:ext cx="16120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</a:rPr>
              <a:t>BuildingQuality</a:t>
            </a:r>
            <a:endParaRPr lang="en-US" sz="987" dirty="0"/>
          </a:p>
        </p:txBody>
      </p:sp>
      <p:sp>
        <p:nvSpPr>
          <p:cNvPr id="22" name="Text 15"/>
          <p:cNvSpPr/>
          <p:nvPr/>
        </p:nvSpPr>
        <p:spPr>
          <a:xfrm>
            <a:off x="1000125" y="4983045"/>
            <a:ext cx="16120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Indice thermique &amp; Matériaux</a:t>
            </a:r>
            <a:endParaRPr lang="en-US" sz="834" dirty="0"/>
          </a:p>
        </p:txBody>
      </p:sp>
      <p:sp>
        <p:nvSpPr>
          <p:cNvPr id="23" name="Shape 16"/>
          <p:cNvSpPr/>
          <p:nvPr/>
        </p:nvSpPr>
        <p:spPr>
          <a:xfrm>
            <a:off x="3686175" y="2164835"/>
            <a:ext cx="2371725" cy="2287786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3807619" y="2271992"/>
            <a:ext cx="21431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4155"/>
                </a:solidFill>
              </a:rPr>
              <a:t>Distribution Originale (Skew: 12.99)</a:t>
            </a:r>
            <a:endParaRPr lang="en-US" sz="683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7619" y="2479160"/>
            <a:ext cx="2143125" cy="1500188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6200775" y="2164835"/>
            <a:ext cx="2371725" cy="2287786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6322219" y="2271992"/>
            <a:ext cx="21431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4155"/>
                </a:solidFill>
              </a:rPr>
              <a:t>Log-Transform (Skew: -3.78)</a:t>
            </a:r>
            <a:endParaRPr lang="en-US" sz="683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2219" y="2479160"/>
            <a:ext cx="2143125" cy="1500188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3714750" y="4595496"/>
            <a:ext cx="4857750" cy="6572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Shape 21"/>
          <p:cNvSpPr/>
          <p:nvPr/>
        </p:nvSpPr>
        <p:spPr>
          <a:xfrm>
            <a:off x="3714750" y="4595496"/>
            <a:ext cx="28575" cy="65722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2"/>
          <p:cNvSpPr/>
          <p:nvPr/>
        </p:nvSpPr>
        <p:spPr>
          <a:xfrm>
            <a:off x="3714750" y="4595496"/>
            <a:ext cx="4857750" cy="657225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4155"/>
                </a:solidFill>
              </a:rPr>
              <a:t>Observation 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155"/>
                </a:solidFill>
              </a:rPr>
              <a:t> La transformation logarithmique réduit l'asymétrie des données de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155"/>
                </a:solidFill>
              </a:rPr>
              <a:t>consommation, permettant au modèle XGBoost de mieux capturer la signature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155"/>
                </a:solidFill>
              </a:rPr>
              <a:t>énergétique basée sur la morphologie.</a:t>
            </a:r>
            <a:endParaRPr lang="en-US" sz="83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932259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F172A"/>
                </a:solidFill>
              </a:rPr>
              <a:t>Résultats Expérimentaux : Une Précision Confirmée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2072971"/>
            <a:ext cx="632027" cy="85725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5" name="Text 2"/>
          <p:cNvSpPr/>
          <p:nvPr/>
        </p:nvSpPr>
        <p:spPr>
          <a:xfrm>
            <a:off x="587322" y="2229241"/>
            <a:ext cx="600382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0B981"/>
                </a:solidFill>
              </a:rPr>
              <a:t>0.91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641291" y="2638220"/>
            <a:ext cx="4924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8FAFC"/>
                </a:solidFill>
              </a:rPr>
              <a:t>R² Score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1346402" y="2267638"/>
            <a:ext cx="1051973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4155"/>
                </a:solidFill>
              </a:rPr>
              <a:t>Émissions de CO₂</a:t>
            </a:r>
            <a:endParaRPr lang="en-US" sz="1193" dirty="0"/>
          </a:p>
        </p:txBody>
      </p:sp>
      <p:sp>
        <p:nvSpPr>
          <p:cNvPr id="8" name="Shape 5"/>
          <p:cNvSpPr/>
          <p:nvPr/>
        </p:nvSpPr>
        <p:spPr>
          <a:xfrm>
            <a:off x="2569825" y="2072971"/>
            <a:ext cx="617376" cy="85725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9" name="Text 6"/>
          <p:cNvSpPr/>
          <p:nvPr/>
        </p:nvSpPr>
        <p:spPr>
          <a:xfrm>
            <a:off x="2578308" y="2229241"/>
            <a:ext cx="600382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0B981"/>
                </a:solidFill>
              </a:rPr>
              <a:t>0.84</a:t>
            </a:r>
            <a:endParaRPr lang="en-US" sz="2121" dirty="0"/>
          </a:p>
        </p:txBody>
      </p:sp>
      <p:sp>
        <p:nvSpPr>
          <p:cNvPr id="10" name="Text 7"/>
          <p:cNvSpPr/>
          <p:nvPr/>
        </p:nvSpPr>
        <p:spPr>
          <a:xfrm>
            <a:off x="2632304" y="2638220"/>
            <a:ext cx="4924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8FAFC"/>
                </a:solidFill>
              </a:rPr>
              <a:t>R² Score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3330076" y="2267638"/>
            <a:ext cx="1518912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4155"/>
                </a:solidFill>
              </a:rPr>
              <a:t>Consommation d'Énergie</a:t>
            </a:r>
            <a:endParaRPr lang="en-US" sz="1193" dirty="0"/>
          </a:p>
        </p:txBody>
      </p:sp>
      <p:sp>
        <p:nvSpPr>
          <p:cNvPr id="12" name="Shape 9"/>
          <p:cNvSpPr/>
          <p:nvPr/>
        </p:nvSpPr>
        <p:spPr>
          <a:xfrm>
            <a:off x="571500" y="3015946"/>
            <a:ext cx="3943350" cy="101977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571500" y="3015946"/>
            <a:ext cx="3943350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3130246"/>
            <a:ext cx="3714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F172A"/>
                </a:solidFill>
              </a:rPr>
              <a:t>Observation :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685800" y="3342773"/>
            <a:ext cx="371475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75569"/>
                </a:solidFill>
              </a:rPr>
              <a:t>Le modèle capture parfaitement la signature énergétique basée sur la morphologie du bâtiment, validant l'efficacité du Transfer Learning.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5020438" y="2072971"/>
            <a:ext cx="253379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4748B"/>
                </a:solidFill>
              </a:rPr>
              <a:t>Confrontation Réel vs Prédiction (Échelle Log)</a:t>
            </a:r>
            <a:endParaRPr lang="en-US" sz="784" dirty="0"/>
          </a:p>
        </p:txBody>
      </p:sp>
      <p:sp>
        <p:nvSpPr>
          <p:cNvPr id="17" name="Shape 14"/>
          <p:cNvSpPr/>
          <p:nvPr/>
        </p:nvSpPr>
        <p:spPr>
          <a:xfrm>
            <a:off x="5020438" y="2314073"/>
            <a:ext cx="6338292" cy="195738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163" y="2399798"/>
            <a:ext cx="5966817" cy="18573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932259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F172A"/>
                </a:solidFill>
              </a:rPr>
              <a:t>Calibration Lomé : Adaptation aux Matériaux Locaux</a:t>
            </a:r>
            <a:endParaRPr lang="en-US" sz="2436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315217"/>
            <a:ext cx="3518297" cy="2571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4694086"/>
            <a:ext cx="351991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Source : RGPH 2022 (5ème Recensement National)</a:t>
            </a:r>
            <a:endParaRPr lang="en-US" sz="727" dirty="0"/>
          </a:p>
        </p:txBody>
      </p:sp>
      <p:sp>
        <p:nvSpPr>
          <p:cNvPr id="6" name="Shape 2"/>
          <p:cNvSpPr/>
          <p:nvPr/>
        </p:nvSpPr>
        <p:spPr>
          <a:xfrm>
            <a:off x="4348590" y="2233064"/>
            <a:ext cx="4223910" cy="6983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3"/>
          <p:cNvSpPr/>
          <p:nvPr/>
        </p:nvSpPr>
        <p:spPr>
          <a:xfrm>
            <a:off x="4348590" y="2233064"/>
            <a:ext cx="422391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4"/>
          <p:cNvSpPr/>
          <p:nvPr/>
        </p:nvSpPr>
        <p:spPr>
          <a:xfrm>
            <a:off x="8565356" y="2233064"/>
            <a:ext cx="7144" cy="6983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Shape 5"/>
          <p:cNvSpPr/>
          <p:nvPr/>
        </p:nvSpPr>
        <p:spPr>
          <a:xfrm>
            <a:off x="4348590" y="2924222"/>
            <a:ext cx="422391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6"/>
          <p:cNvSpPr/>
          <p:nvPr/>
        </p:nvSpPr>
        <p:spPr>
          <a:xfrm>
            <a:off x="4348590" y="2233064"/>
            <a:ext cx="42863" cy="698302"/>
          </a:xfrm>
          <a:prstGeom prst="rect">
            <a:avLst/>
          </a:prstGeom>
          <a:solidFill>
            <a:srgbClr val="B45309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706" y="2510777"/>
            <a:ext cx="257175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19421" y="2325932"/>
            <a:ext cx="351020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</a:rPr>
              <a:t>Traditionnel (42%)</a:t>
            </a:r>
            <a:endParaRPr lang="en-US" sz="987" dirty="0"/>
          </a:p>
        </p:txBody>
      </p:sp>
      <p:sp>
        <p:nvSpPr>
          <p:cNvPr id="13" name="Text 8"/>
          <p:cNvSpPr/>
          <p:nvPr/>
        </p:nvSpPr>
        <p:spPr>
          <a:xfrm>
            <a:off x="4919421" y="2520600"/>
            <a:ext cx="3510204" cy="403622"/>
          </a:xfrm>
          <a:prstGeom prst="rect">
            <a:avLst/>
          </a:prstGeom>
          <a:noFill/>
          <a:ln/>
        </p:spPr>
        <p:txBody>
          <a:bodyPr wrap="square" lIns="0" tIns="42545" rIns="0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75569"/>
                </a:solidFill>
              </a:rPr>
              <a:t>Banco, Terre. </a:t>
            </a:r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75569"/>
                </a:solidFill>
              </a:rPr>
              <a:t>Meilleure inertie thermique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75569"/>
                </a:solidFill>
              </a:rPr>
              <a:t>, besoin réduit en 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75569"/>
                </a:solidFill>
              </a:rPr>
              <a:t>climatisation.</a:t>
            </a:r>
            <a:endParaRPr lang="en-US" sz="834" dirty="0"/>
          </a:p>
        </p:txBody>
      </p:sp>
      <p:sp>
        <p:nvSpPr>
          <p:cNvPr id="14" name="Shape 9"/>
          <p:cNvSpPr/>
          <p:nvPr/>
        </p:nvSpPr>
        <p:spPr>
          <a:xfrm>
            <a:off x="4348590" y="3009947"/>
            <a:ext cx="4223910" cy="542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0"/>
          <p:cNvSpPr/>
          <p:nvPr/>
        </p:nvSpPr>
        <p:spPr>
          <a:xfrm>
            <a:off x="4348590" y="3009947"/>
            <a:ext cx="422391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Shape 11"/>
          <p:cNvSpPr/>
          <p:nvPr/>
        </p:nvSpPr>
        <p:spPr>
          <a:xfrm>
            <a:off x="8565356" y="3009947"/>
            <a:ext cx="7144" cy="5429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Shape 12"/>
          <p:cNvSpPr/>
          <p:nvPr/>
        </p:nvSpPr>
        <p:spPr>
          <a:xfrm>
            <a:off x="4348590" y="3545728"/>
            <a:ext cx="422391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Shape 13"/>
          <p:cNvSpPr/>
          <p:nvPr/>
        </p:nvSpPr>
        <p:spPr>
          <a:xfrm>
            <a:off x="4348590" y="3009947"/>
            <a:ext cx="42863" cy="542925"/>
          </a:xfrm>
          <a:prstGeom prst="rect">
            <a:avLst/>
          </a:prstGeom>
          <a:solidFill>
            <a:srgbClr val="64748B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7184" y="3209972"/>
            <a:ext cx="28575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962953" y="3102815"/>
            <a:ext cx="346667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</a:rPr>
              <a:t>Semi-moderne (31%)</a:t>
            </a:r>
            <a:endParaRPr lang="en-US" sz="987" dirty="0"/>
          </a:p>
        </p:txBody>
      </p:sp>
      <p:sp>
        <p:nvSpPr>
          <p:cNvPr id="21" name="Text 15"/>
          <p:cNvSpPr/>
          <p:nvPr/>
        </p:nvSpPr>
        <p:spPr>
          <a:xfrm>
            <a:off x="4962953" y="3297482"/>
            <a:ext cx="3466672" cy="248245"/>
          </a:xfrm>
          <a:prstGeom prst="rect">
            <a:avLst/>
          </a:prstGeom>
          <a:noFill/>
          <a:ln/>
        </p:spPr>
        <p:txBody>
          <a:bodyPr wrap="square" lIns="0" tIns="42545" rIns="0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75569"/>
                </a:solidFill>
              </a:rPr>
              <a:t>Parpaing, Tôle. Performance thermique intermédiaire.</a:t>
            </a:r>
            <a:endParaRPr lang="en-US" sz="834" dirty="0"/>
          </a:p>
        </p:txBody>
      </p:sp>
      <p:sp>
        <p:nvSpPr>
          <p:cNvPr id="22" name="Shape 16"/>
          <p:cNvSpPr/>
          <p:nvPr/>
        </p:nvSpPr>
        <p:spPr>
          <a:xfrm>
            <a:off x="4348590" y="3631453"/>
            <a:ext cx="4223910" cy="6983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7"/>
          <p:cNvSpPr/>
          <p:nvPr/>
        </p:nvSpPr>
        <p:spPr>
          <a:xfrm>
            <a:off x="4348590" y="3631453"/>
            <a:ext cx="422391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Shape 18"/>
          <p:cNvSpPr/>
          <p:nvPr/>
        </p:nvSpPr>
        <p:spPr>
          <a:xfrm>
            <a:off x="8565356" y="3631453"/>
            <a:ext cx="7144" cy="6983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Shape 19"/>
          <p:cNvSpPr/>
          <p:nvPr/>
        </p:nvSpPr>
        <p:spPr>
          <a:xfrm>
            <a:off x="4348590" y="4322611"/>
            <a:ext cx="422391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Shape 20"/>
          <p:cNvSpPr/>
          <p:nvPr/>
        </p:nvSpPr>
        <p:spPr>
          <a:xfrm>
            <a:off x="4348590" y="3631453"/>
            <a:ext cx="42863" cy="698302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1316" y="3909166"/>
            <a:ext cx="285750" cy="2286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911244" y="3724322"/>
            <a:ext cx="351838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</a:rPr>
              <a:t>Moderne (27%)</a:t>
            </a:r>
            <a:endParaRPr lang="en-US" sz="987" dirty="0"/>
          </a:p>
        </p:txBody>
      </p:sp>
      <p:sp>
        <p:nvSpPr>
          <p:cNvPr id="29" name="Text 22"/>
          <p:cNvSpPr/>
          <p:nvPr/>
        </p:nvSpPr>
        <p:spPr>
          <a:xfrm>
            <a:off x="4911244" y="3918989"/>
            <a:ext cx="3518381" cy="403622"/>
          </a:xfrm>
          <a:prstGeom prst="rect">
            <a:avLst/>
          </a:prstGeom>
          <a:noFill/>
          <a:ln/>
        </p:spPr>
        <p:txBody>
          <a:bodyPr wrap="square" lIns="0" tIns="42545" rIns="0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75569"/>
                </a:solidFill>
              </a:rPr>
              <a:t>Béton, Verre. </a:t>
            </a:r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75569"/>
                </a:solidFill>
              </a:rPr>
              <a:t>Forte consommation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75569"/>
                </a:solidFill>
              </a:rPr>
              <a:t> due à l'usage intensif de la 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75569"/>
                </a:solidFill>
              </a:rPr>
              <a:t>climatisation.</a:t>
            </a:r>
            <a:endParaRPr lang="en-US" sz="834" dirty="0"/>
          </a:p>
        </p:txBody>
      </p:sp>
      <p:sp>
        <p:nvSpPr>
          <p:cNvPr id="30" name="Shape 23"/>
          <p:cNvSpPr/>
          <p:nvPr/>
        </p:nvSpPr>
        <p:spPr>
          <a:xfrm>
            <a:off x="4348590" y="4465486"/>
            <a:ext cx="4223910" cy="482203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1" name="Text 24"/>
          <p:cNvSpPr/>
          <p:nvPr/>
        </p:nvSpPr>
        <p:spPr>
          <a:xfrm>
            <a:off x="4348590" y="4465486"/>
            <a:ext cx="4223910" cy="482203"/>
          </a:xfrm>
          <a:prstGeom prst="rect">
            <a:avLst/>
          </a:prstGeom>
          <a:noFill/>
          <a:ln/>
        </p:spPr>
        <p:txBody>
          <a:bodyPr wrap="square" lIns="212598" tIns="102108" rIns="212598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Ajustement :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8FAFC"/>
                </a:solidFill>
              </a:rPr>
              <a:t> La variable </a:t>
            </a:r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'BuildingQuality'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8FAFC"/>
                </a:solidFill>
              </a:rPr>
              <a:t> modère la prédiction du 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8FAFC"/>
                </a:solidFill>
              </a:rPr>
              <a:t>modèle source pour refléter l'inertie thermique des matériaux locaux.</a:t>
            </a:r>
            <a:endParaRPr lang="en-US" sz="83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6613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F172A"/>
                </a:solidFill>
              </a:rPr>
              <a:t>Architecture Technique &amp; Déploiement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904088"/>
            <a:ext cx="302895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F172A"/>
                </a:solidFill>
              </a:rPr>
              <a:t>Flux de Travail Opérationnel</a:t>
            </a:r>
            <a:endParaRPr lang="en-US" sz="1397" dirty="0"/>
          </a:p>
        </p:txBody>
      </p:sp>
      <p:sp>
        <p:nvSpPr>
          <p:cNvPr id="5" name="Shape 2"/>
          <p:cNvSpPr/>
          <p:nvPr/>
        </p:nvSpPr>
        <p:spPr>
          <a:xfrm>
            <a:off x="740076" y="2391649"/>
            <a:ext cx="571500" cy="5715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3"/>
          <p:cNvSpPr/>
          <p:nvPr/>
        </p:nvSpPr>
        <p:spPr>
          <a:xfrm>
            <a:off x="740076" y="2391649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1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571500" y="3106024"/>
            <a:ext cx="90867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4155"/>
                </a:solidFill>
              </a:rPr>
              <a:t>Saisie des Coordonnées</a:t>
            </a:r>
            <a:endParaRPr lang="en-US" sz="885" dirty="0"/>
          </a:p>
        </p:txBody>
      </p:sp>
      <p:sp>
        <p:nvSpPr>
          <p:cNvPr id="8" name="Shape 5"/>
          <p:cNvSpPr/>
          <p:nvPr/>
        </p:nvSpPr>
        <p:spPr>
          <a:xfrm>
            <a:off x="1800197" y="2391649"/>
            <a:ext cx="571500" cy="5715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6"/>
          <p:cNvSpPr/>
          <p:nvPr/>
        </p:nvSpPr>
        <p:spPr>
          <a:xfrm>
            <a:off x="1800197" y="2391649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2</a:t>
            </a:r>
            <a:endParaRPr lang="en-US" sz="1602" dirty="0"/>
          </a:p>
        </p:txBody>
      </p:sp>
      <p:sp>
        <p:nvSpPr>
          <p:cNvPr id="10" name="Text 7"/>
          <p:cNvSpPr/>
          <p:nvPr/>
        </p:nvSpPr>
        <p:spPr>
          <a:xfrm>
            <a:off x="1631621" y="3106024"/>
            <a:ext cx="908679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4155"/>
                </a:solidFill>
              </a:rPr>
              <a:t>Injection Données RGPH</a:t>
            </a:r>
            <a:endParaRPr lang="en-US" sz="885" dirty="0"/>
          </a:p>
        </p:txBody>
      </p:sp>
      <p:sp>
        <p:nvSpPr>
          <p:cNvPr id="11" name="Shape 8"/>
          <p:cNvSpPr/>
          <p:nvPr/>
        </p:nvSpPr>
        <p:spPr>
          <a:xfrm>
            <a:off x="2860318" y="2391649"/>
            <a:ext cx="571500" cy="5715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9"/>
          <p:cNvSpPr/>
          <p:nvPr/>
        </p:nvSpPr>
        <p:spPr>
          <a:xfrm>
            <a:off x="2860318" y="2391649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3</a:t>
            </a:r>
            <a:endParaRPr lang="en-US" sz="1602" dirty="0"/>
          </a:p>
        </p:txBody>
      </p:sp>
      <p:sp>
        <p:nvSpPr>
          <p:cNvPr id="13" name="Text 10"/>
          <p:cNvSpPr/>
          <p:nvPr/>
        </p:nvSpPr>
        <p:spPr>
          <a:xfrm>
            <a:off x="2691743" y="3106024"/>
            <a:ext cx="90867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4155"/>
                </a:solidFill>
              </a:rPr>
              <a:t>Estimation Coût &amp; CO₂</a:t>
            </a:r>
            <a:endParaRPr lang="en-US" sz="885" dirty="0"/>
          </a:p>
        </p:txBody>
      </p:sp>
      <p:sp>
        <p:nvSpPr>
          <p:cNvPr id="14" name="Shape 11"/>
          <p:cNvSpPr/>
          <p:nvPr/>
        </p:nvSpPr>
        <p:spPr>
          <a:xfrm>
            <a:off x="571500" y="4003263"/>
            <a:ext cx="3028950" cy="98583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Shape 12"/>
          <p:cNvSpPr/>
          <p:nvPr/>
        </p:nvSpPr>
        <p:spPr>
          <a:xfrm>
            <a:off x="571500" y="4003263"/>
            <a:ext cx="42863" cy="98583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3"/>
          <p:cNvSpPr/>
          <p:nvPr/>
        </p:nvSpPr>
        <p:spPr>
          <a:xfrm>
            <a:off x="571500" y="4003263"/>
            <a:ext cx="3028950" cy="985838"/>
          </a:xfrm>
          <a:prstGeom prst="rect">
            <a:avLst/>
          </a:prstGeom>
          <a:noFill/>
          <a:ln/>
        </p:spPr>
        <p:txBody>
          <a:bodyPr wrap="square" lIns="255143" tIns="170053" rIns="255143" bIns="170053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8FAFC"/>
                </a:solidFill>
              </a:rPr>
              <a:t>L'architecture est conçue pour être </a:t>
            </a:r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scalable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8FAFC"/>
                </a:solidFill>
              </a:rPr>
              <a:t> et </a:t>
            </a:r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interopérable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8FAFC"/>
                </a:solidFill>
              </a:rPr>
              <a:t> avec les 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8FAFC"/>
                </a:solidFill>
              </a:rPr>
              <a:t>systèmes d'information géographique 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8FAFC"/>
                </a:solidFill>
              </a:rPr>
              <a:t>(SIG) municipaux.</a:t>
            </a:r>
            <a:endParaRPr lang="en-US" sz="94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355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6613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F172A"/>
                </a:solidFill>
              </a:rPr>
              <a:t>Roadmap : Vers l'Industrialisation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2035466"/>
            <a:ext cx="2524116" cy="3400034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71500" y="2035466"/>
            <a:ext cx="2524116" cy="7304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3"/>
          <p:cNvSpPr/>
          <p:nvPr/>
        </p:nvSpPr>
        <p:spPr>
          <a:xfrm>
            <a:off x="714375" y="2178341"/>
            <a:ext cx="223836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10B981"/>
                </a:solidFill>
              </a:rPr>
              <a:t>Phase 1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714375" y="2389082"/>
            <a:ext cx="223836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AFC"/>
                </a:solidFill>
              </a:rPr>
              <a:t>Calibration</a:t>
            </a:r>
            <a:endParaRPr lang="en-US" sz="1193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3003445"/>
            <a:ext cx="112514" cy="128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9764" y="2980227"/>
            <a:ext cx="77939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0B981"/>
                </a:solidFill>
              </a:rPr>
              <a:t>Court Terme</a:t>
            </a:r>
            <a:endParaRPr lang="en-US" sz="885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3" y="3326699"/>
            <a:ext cx="100013" cy="1000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1550" y="3298124"/>
            <a:ext cx="190975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75569"/>
                </a:solidFill>
              </a:rPr>
              <a:t>Collecte de factures (50-200 bâtiments)</a:t>
            </a:r>
            <a:endParaRPr lang="en-US" sz="942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3793889"/>
            <a:ext cx="100013" cy="10001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1550" y="3765314"/>
            <a:ext cx="190975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75569"/>
                </a:solidFill>
              </a:rPr>
              <a:t>Validation terrain des prédictions</a:t>
            </a:r>
            <a:endParaRPr lang="en-US" sz="942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4261079"/>
            <a:ext cx="100013" cy="10001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71550" y="4232504"/>
            <a:ext cx="190975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75569"/>
                </a:solidFill>
              </a:rPr>
              <a:t>Ajustement des coefficients locaux</a:t>
            </a:r>
            <a:endParaRPr lang="en-US" sz="942" dirty="0"/>
          </a:p>
        </p:txBody>
      </p:sp>
      <p:sp>
        <p:nvSpPr>
          <p:cNvPr id="16" name="Shape 9"/>
          <p:cNvSpPr/>
          <p:nvPr/>
        </p:nvSpPr>
        <p:spPr>
          <a:xfrm>
            <a:off x="571500" y="4721126"/>
            <a:ext cx="2524116" cy="714375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2094" y="4906863"/>
            <a:ext cx="342900" cy="34290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3309928" y="2035466"/>
            <a:ext cx="2524116" cy="3400034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9" name="Shape 11"/>
          <p:cNvSpPr/>
          <p:nvPr/>
        </p:nvSpPr>
        <p:spPr>
          <a:xfrm>
            <a:off x="3309928" y="2035466"/>
            <a:ext cx="2524116" cy="7304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2"/>
          <p:cNvSpPr/>
          <p:nvPr/>
        </p:nvSpPr>
        <p:spPr>
          <a:xfrm>
            <a:off x="3452803" y="2178341"/>
            <a:ext cx="223836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0F172A"/>
                </a:solidFill>
              </a:rPr>
              <a:t>Phase 2</a:t>
            </a:r>
            <a:endParaRPr lang="en-US" sz="885" dirty="0"/>
          </a:p>
        </p:txBody>
      </p:sp>
      <p:sp>
        <p:nvSpPr>
          <p:cNvPr id="21" name="Text 13"/>
          <p:cNvSpPr/>
          <p:nvPr/>
        </p:nvSpPr>
        <p:spPr>
          <a:xfrm>
            <a:off x="3452803" y="2389082"/>
            <a:ext cx="223836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AFC"/>
                </a:solidFill>
              </a:rPr>
              <a:t>Prototype SaaS</a:t>
            </a:r>
            <a:endParaRPr lang="en-US" sz="1193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4241" y="3003445"/>
            <a:ext cx="112514" cy="12858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708192" y="2980227"/>
            <a:ext cx="85099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172A"/>
                </a:solidFill>
              </a:rPr>
              <a:t>Moyen Terme</a:t>
            </a:r>
            <a:endParaRPr lang="en-US" sz="885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4241" y="3326699"/>
            <a:ext cx="100013" cy="100013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3709978" y="3298124"/>
            <a:ext cx="190975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75569"/>
                </a:solidFill>
              </a:rPr>
              <a:t>Déploiement Web App (Streamlit)</a:t>
            </a:r>
            <a:endParaRPr lang="en-US" sz="942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24241" y="3793889"/>
            <a:ext cx="100013" cy="100013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3709978" y="3765314"/>
            <a:ext cx="190975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75569"/>
                </a:solidFill>
              </a:rPr>
              <a:t>Intégration des données cadastrales</a:t>
            </a:r>
            <a:endParaRPr lang="en-US" sz="942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24241" y="4261079"/>
            <a:ext cx="100013" cy="100013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3709978" y="4232504"/>
            <a:ext cx="190975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75569"/>
                </a:solidFill>
              </a:rPr>
              <a:t>Dashboard pour les municipalités</a:t>
            </a:r>
            <a:endParaRPr lang="en-US" sz="942" dirty="0"/>
          </a:p>
        </p:txBody>
      </p:sp>
      <p:sp>
        <p:nvSpPr>
          <p:cNvPr id="30" name="Shape 18"/>
          <p:cNvSpPr/>
          <p:nvPr/>
        </p:nvSpPr>
        <p:spPr>
          <a:xfrm>
            <a:off x="3309928" y="4721126"/>
            <a:ext cx="2524116" cy="714375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57660" y="4906863"/>
            <a:ext cx="428625" cy="342900"/>
          </a:xfrm>
          <a:prstGeom prst="rect">
            <a:avLst/>
          </a:prstGeom>
        </p:spPr>
      </p:pic>
      <p:sp>
        <p:nvSpPr>
          <p:cNvPr id="32" name="Shape 19"/>
          <p:cNvSpPr/>
          <p:nvPr/>
        </p:nvSpPr>
        <p:spPr>
          <a:xfrm>
            <a:off x="6048356" y="2035466"/>
            <a:ext cx="2524144" cy="3400034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33" name="Shape 20"/>
          <p:cNvSpPr/>
          <p:nvPr/>
        </p:nvSpPr>
        <p:spPr>
          <a:xfrm>
            <a:off x="6048356" y="2035466"/>
            <a:ext cx="2524144" cy="7304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4" name="Text 21"/>
          <p:cNvSpPr/>
          <p:nvPr/>
        </p:nvSpPr>
        <p:spPr>
          <a:xfrm>
            <a:off x="6191231" y="2178341"/>
            <a:ext cx="223839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10B981"/>
                </a:solidFill>
              </a:rPr>
              <a:t>Phase 3</a:t>
            </a:r>
            <a:endParaRPr lang="en-US" sz="885" dirty="0"/>
          </a:p>
        </p:txBody>
      </p:sp>
      <p:sp>
        <p:nvSpPr>
          <p:cNvPr id="35" name="Text 22"/>
          <p:cNvSpPr/>
          <p:nvPr/>
        </p:nvSpPr>
        <p:spPr>
          <a:xfrm>
            <a:off x="6191231" y="2389082"/>
            <a:ext cx="223839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AFC"/>
                </a:solidFill>
              </a:rPr>
              <a:t>Industrialisation</a:t>
            </a:r>
            <a:endParaRPr lang="en-US" sz="1193" dirty="0"/>
          </a:p>
        </p:txBody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62669" y="3003445"/>
            <a:ext cx="112514" cy="128588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6446620" y="2980227"/>
            <a:ext cx="74029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0B981"/>
                </a:solidFill>
              </a:rPr>
              <a:t>Long Terme</a:t>
            </a:r>
            <a:endParaRPr lang="en-US" sz="885" dirty="0"/>
          </a:p>
        </p:txBody>
      </p:sp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62669" y="3326699"/>
            <a:ext cx="100013" cy="100013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6448406" y="3298124"/>
            <a:ext cx="190978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75569"/>
                </a:solidFill>
              </a:rPr>
              <a:t>API connectée en temps réel à la CEET</a:t>
            </a:r>
            <a:endParaRPr lang="en-US" sz="942" dirty="0"/>
          </a:p>
        </p:txBody>
      </p:sp>
      <p:pic>
        <p:nvPicPr>
          <p:cNvPr id="4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62669" y="3793889"/>
            <a:ext cx="100013" cy="100013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6448406" y="3765314"/>
            <a:ext cx="190978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75569"/>
                </a:solidFill>
              </a:rPr>
              <a:t>Monitoring municipal automatisé</a:t>
            </a:r>
            <a:endParaRPr lang="en-US" sz="942" dirty="0"/>
          </a:p>
        </p:txBody>
      </p:sp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62669" y="4261079"/>
            <a:ext cx="100013" cy="100013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6448406" y="4232504"/>
            <a:ext cx="190978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75569"/>
                </a:solidFill>
              </a:rPr>
              <a:t>Extension à d'autres villes du Togo</a:t>
            </a:r>
            <a:endParaRPr lang="en-US" sz="942" dirty="0"/>
          </a:p>
        </p:txBody>
      </p:sp>
      <p:sp>
        <p:nvSpPr>
          <p:cNvPr id="44" name="Shape 27"/>
          <p:cNvSpPr/>
          <p:nvPr/>
        </p:nvSpPr>
        <p:spPr>
          <a:xfrm>
            <a:off x="6048356" y="4706838"/>
            <a:ext cx="2524144" cy="714375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4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17547" y="4892576"/>
            <a:ext cx="385763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6613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F172A"/>
                </a:solidFill>
              </a:rPr>
              <a:t>Modèle Économique &amp; Impact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892591"/>
            <a:ext cx="2524116" cy="2484741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71500" y="1892591"/>
            <a:ext cx="2524116" cy="51970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892591"/>
            <a:ext cx="2524116" cy="519708"/>
          </a:xfrm>
          <a:prstGeom prst="rect">
            <a:avLst/>
          </a:prstGeom>
          <a:noFill/>
          <a:ln/>
        </p:spPr>
        <p:txBody>
          <a:bodyPr wrap="square" lIns="0" tIns="170053" rIns="0" bIns="170053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B981"/>
                </a:solidFill>
              </a:rPr>
              <a:t>Clients Cibles</a:t>
            </a:r>
            <a:endParaRPr lang="en-US" sz="1193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794" y="2683762"/>
            <a:ext cx="571500" cy="45720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415" y="3522427"/>
            <a:ext cx="128588" cy="1285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05440" y="3483862"/>
            <a:ext cx="165623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75569"/>
                </a:solidFill>
              </a:rPr>
              <a:t>Municipalités (Planification)</a:t>
            </a:r>
            <a:endParaRPr lang="en-US" sz="942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349" y="3842445"/>
            <a:ext cx="128588" cy="1285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94374" y="3803879"/>
            <a:ext cx="147839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75569"/>
                </a:solidFill>
              </a:rPr>
              <a:t>Promoteurs Immobiliers</a:t>
            </a:r>
            <a:endParaRPr lang="en-US" sz="942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086" y="4162462"/>
            <a:ext cx="128588" cy="12858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234111" y="4123897"/>
            <a:ext cx="1398919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75569"/>
                </a:solidFill>
              </a:rPr>
              <a:t>Banques (Green Loans)</a:t>
            </a:r>
            <a:endParaRPr lang="en-US" sz="942" dirty="0"/>
          </a:p>
        </p:txBody>
      </p:sp>
      <p:sp>
        <p:nvSpPr>
          <p:cNvPr id="14" name="Shape 7"/>
          <p:cNvSpPr/>
          <p:nvPr/>
        </p:nvSpPr>
        <p:spPr>
          <a:xfrm>
            <a:off x="3309928" y="1892591"/>
            <a:ext cx="2524116" cy="2484741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3309928" y="1892591"/>
            <a:ext cx="2524116" cy="51970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9"/>
          <p:cNvSpPr/>
          <p:nvPr/>
        </p:nvSpPr>
        <p:spPr>
          <a:xfrm>
            <a:off x="3309928" y="1892591"/>
            <a:ext cx="2524116" cy="519708"/>
          </a:xfrm>
          <a:prstGeom prst="rect">
            <a:avLst/>
          </a:prstGeom>
          <a:noFill/>
          <a:ln/>
        </p:spPr>
        <p:txBody>
          <a:bodyPr wrap="square" lIns="0" tIns="170053" rIns="0" bIns="170053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B981"/>
                </a:solidFill>
              </a:rPr>
              <a:t>Sources de Revenus</a:t>
            </a:r>
            <a:endParaRPr lang="en-US" sz="1193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4797" y="2683762"/>
            <a:ext cx="514350" cy="457200"/>
          </a:xfrm>
          <a:prstGeom prst="rect">
            <a:avLst/>
          </a:prstGeom>
        </p:spPr>
      </p:pic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03768" y="3522427"/>
            <a:ext cx="128588" cy="12858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4003793" y="3483862"/>
            <a:ext cx="133641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75569"/>
                </a:solidFill>
              </a:rPr>
              <a:t>B2G (Contrats Publics)</a:t>
            </a:r>
            <a:endParaRPr lang="en-US" sz="942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0093" y="3842445"/>
            <a:ext cx="128588" cy="128588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3850118" y="3803879"/>
            <a:ext cx="164376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75569"/>
                </a:solidFill>
              </a:rPr>
              <a:t>SaaS (Abonnements Privés)</a:t>
            </a:r>
            <a:endParaRPr lang="en-US" sz="942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85099" y="4162462"/>
            <a:ext cx="128588" cy="128588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3985124" y="4123897"/>
            <a:ext cx="137372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75569"/>
                </a:solidFill>
              </a:rPr>
              <a:t>Audits Énergétiques IA</a:t>
            </a:r>
            <a:endParaRPr lang="en-US" sz="942" dirty="0"/>
          </a:p>
        </p:txBody>
      </p:sp>
      <p:sp>
        <p:nvSpPr>
          <p:cNvPr id="24" name="Shape 13"/>
          <p:cNvSpPr/>
          <p:nvPr/>
        </p:nvSpPr>
        <p:spPr>
          <a:xfrm>
            <a:off x="6048356" y="1892591"/>
            <a:ext cx="2524144" cy="2484741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5" name="Shape 14"/>
          <p:cNvSpPr/>
          <p:nvPr/>
        </p:nvSpPr>
        <p:spPr>
          <a:xfrm>
            <a:off x="6048356" y="1892591"/>
            <a:ext cx="2524144" cy="51970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Text 15"/>
          <p:cNvSpPr/>
          <p:nvPr/>
        </p:nvSpPr>
        <p:spPr>
          <a:xfrm>
            <a:off x="6048356" y="1892591"/>
            <a:ext cx="2524144" cy="519708"/>
          </a:xfrm>
          <a:prstGeom prst="rect">
            <a:avLst/>
          </a:prstGeom>
          <a:noFill/>
          <a:ln/>
        </p:spPr>
        <p:txBody>
          <a:bodyPr wrap="square" lIns="0" tIns="170053" rIns="0" bIns="170053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B981"/>
                </a:solidFill>
              </a:rPr>
              <a:t>Proposition de Valeur</a:t>
            </a:r>
            <a:endParaRPr lang="en-US" sz="1193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1828" y="2683762"/>
            <a:ext cx="457200" cy="457200"/>
          </a:xfrm>
          <a:prstGeom prst="rect">
            <a:avLst/>
          </a:prstGeom>
        </p:spPr>
      </p:pic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78755" y="3522427"/>
            <a:ext cx="128588" cy="128588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6578780" y="3483862"/>
            <a:ext cx="166329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75569"/>
                </a:solidFill>
              </a:rPr>
              <a:t>Réduction des coûts d'audit</a:t>
            </a:r>
            <a:endParaRPr lang="en-US" sz="942" dirty="0"/>
          </a:p>
        </p:txBody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23264" y="3842445"/>
            <a:ext cx="128588" cy="128588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6623289" y="3803879"/>
            <a:ext cx="157430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75569"/>
                </a:solidFill>
              </a:rPr>
              <a:t>Conformité réglementaire</a:t>
            </a:r>
            <a:endParaRPr lang="en-US" sz="942" dirty="0"/>
          </a:p>
        </p:txBody>
      </p:sp>
      <p:pic>
        <p:nvPicPr>
          <p:cNvPr id="3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02750" y="4162462"/>
            <a:ext cx="128588" cy="128588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6802775" y="4123897"/>
            <a:ext cx="121530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75569"/>
                </a:solidFill>
              </a:rPr>
              <a:t>Rapidité d'exécution</a:t>
            </a:r>
            <a:endParaRPr lang="en-US" sz="942" dirty="0"/>
          </a:p>
        </p:txBody>
      </p:sp>
      <p:sp>
        <p:nvSpPr>
          <p:cNvPr id="34" name="Shape 19"/>
          <p:cNvSpPr/>
          <p:nvPr/>
        </p:nvSpPr>
        <p:spPr>
          <a:xfrm>
            <a:off x="0" y="4663083"/>
            <a:ext cx="9144000" cy="480417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Text 20"/>
          <p:cNvSpPr/>
          <p:nvPr/>
        </p:nvSpPr>
        <p:spPr>
          <a:xfrm>
            <a:off x="0" y="4663083"/>
            <a:ext cx="9144000" cy="480417"/>
          </a:xfrm>
          <a:prstGeom prst="rect">
            <a:avLst/>
          </a:prstGeom>
          <a:noFill/>
          <a:ln/>
        </p:spPr>
        <p:txBody>
          <a:bodyPr wrap="square" lIns="680339" tIns="170053" rIns="680339" bIns="170053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</a:rPr>
              <a:t>Transformer les données en </a:t>
            </a:r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</a:rPr>
              <a:t>valeur économique</a:t>
            </a:r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</a:rPr>
              <a:t> et en </a:t>
            </a:r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</a:rPr>
              <a:t>impact climatique</a:t>
            </a:r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</a:rPr>
              <a:t> mesurable.</a:t>
            </a:r>
            <a:endParaRPr lang="en-US" sz="987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6613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F172A"/>
                </a:solidFill>
              </a:rPr>
              <a:t>Partenariats Stratégiques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821154"/>
            <a:ext cx="3786188" cy="55364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64748B"/>
                </a:solidFill>
              </a:rPr>
              <a:t>Support Institutionnel &amp; Financement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571500" y="2503382"/>
            <a:ext cx="3786188" cy="10340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2503382"/>
            <a:ext cx="3786188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4"/>
          <p:cNvSpPr/>
          <p:nvPr/>
        </p:nvSpPr>
        <p:spPr>
          <a:xfrm>
            <a:off x="4350544" y="2503382"/>
            <a:ext cx="7144" cy="103405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3530296"/>
            <a:ext cx="3786188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2503382"/>
            <a:ext cx="42863" cy="103405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Shape 7"/>
          <p:cNvSpPr/>
          <p:nvPr/>
        </p:nvSpPr>
        <p:spPr>
          <a:xfrm>
            <a:off x="700088" y="2784667"/>
            <a:ext cx="457200" cy="457200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88" y="2898967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00163" y="2631970"/>
            <a:ext cx="29289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F172A"/>
                </a:solidFill>
              </a:rPr>
              <a:t>OIF / Programme D-CLIC</a:t>
            </a:r>
            <a:endParaRPr lang="en-US" sz="1090" dirty="0"/>
          </a:p>
        </p:txBody>
      </p:sp>
      <p:sp>
        <p:nvSpPr>
          <p:cNvPr id="13" name="Text 9"/>
          <p:cNvSpPr/>
          <p:nvPr/>
        </p:nvSpPr>
        <p:spPr>
          <a:xfrm>
            <a:off x="1300163" y="2882001"/>
            <a:ext cx="29289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Partenaire Financier &amp; Capacitation</a:t>
            </a:r>
            <a:endParaRPr lang="en-US" sz="784" dirty="0"/>
          </a:p>
        </p:txBody>
      </p:sp>
      <p:sp>
        <p:nvSpPr>
          <p:cNvPr id="14" name="Text 10"/>
          <p:cNvSpPr/>
          <p:nvPr/>
        </p:nvSpPr>
        <p:spPr>
          <a:xfrm>
            <a:off x="1300163" y="3094527"/>
            <a:ext cx="29289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64748B"/>
                </a:solidFill>
              </a:rPr>
              <a:t>Soutien au développement des compétences numériques et financement de l'innovation.</a:t>
            </a:r>
            <a:endParaRPr lang="en-US" sz="780" dirty="0"/>
          </a:p>
        </p:txBody>
      </p:sp>
      <p:sp>
        <p:nvSpPr>
          <p:cNvPr id="15" name="Shape 11"/>
          <p:cNvSpPr/>
          <p:nvPr/>
        </p:nvSpPr>
        <p:spPr>
          <a:xfrm>
            <a:off x="571500" y="3651740"/>
            <a:ext cx="3786188" cy="103405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00088" y="3933025"/>
            <a:ext cx="457200" cy="457200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388" y="4047325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00163" y="3780327"/>
            <a:ext cx="29289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F172A"/>
                </a:solidFill>
              </a:rPr>
              <a:t>Ministère de l'Énergie (Togo)</a:t>
            </a:r>
            <a:endParaRPr lang="en-US" sz="1090" dirty="0"/>
          </a:p>
        </p:txBody>
      </p:sp>
      <p:sp>
        <p:nvSpPr>
          <p:cNvPr id="19" name="Text 14"/>
          <p:cNvSpPr/>
          <p:nvPr/>
        </p:nvSpPr>
        <p:spPr>
          <a:xfrm>
            <a:off x="1300163" y="4030359"/>
            <a:ext cx="29289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Autorité Gouvernementale</a:t>
            </a:r>
            <a:endParaRPr lang="en-US" sz="784" dirty="0"/>
          </a:p>
        </p:txBody>
      </p:sp>
      <p:sp>
        <p:nvSpPr>
          <p:cNvPr id="20" name="Text 15"/>
          <p:cNvSpPr/>
          <p:nvPr/>
        </p:nvSpPr>
        <p:spPr>
          <a:xfrm>
            <a:off x="1300163" y="4242885"/>
            <a:ext cx="29289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64748B"/>
                </a:solidFill>
              </a:rPr>
              <a:t>Cadrage réglementaire et alignement avec la stratégie énergétique nationale.</a:t>
            </a:r>
            <a:endParaRPr lang="en-US" sz="780" dirty="0"/>
          </a:p>
        </p:txBody>
      </p:sp>
      <p:sp>
        <p:nvSpPr>
          <p:cNvPr id="21" name="Text 16"/>
          <p:cNvSpPr/>
          <p:nvPr/>
        </p:nvSpPr>
        <p:spPr>
          <a:xfrm>
            <a:off x="4786313" y="1821154"/>
            <a:ext cx="3786188" cy="31968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64748B"/>
                </a:solidFill>
              </a:rPr>
              <a:t>Partenaire Technique &amp; Data</a:t>
            </a:r>
            <a:endParaRPr lang="en-US" sz="1193" dirty="0"/>
          </a:p>
        </p:txBody>
      </p:sp>
      <p:sp>
        <p:nvSpPr>
          <p:cNvPr id="22" name="Shape 17"/>
          <p:cNvSpPr/>
          <p:nvPr/>
        </p:nvSpPr>
        <p:spPr>
          <a:xfrm>
            <a:off x="4786313" y="2269424"/>
            <a:ext cx="3786188" cy="10340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8"/>
          <p:cNvSpPr/>
          <p:nvPr/>
        </p:nvSpPr>
        <p:spPr>
          <a:xfrm>
            <a:off x="4786313" y="2269424"/>
            <a:ext cx="3786188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Shape 19"/>
          <p:cNvSpPr/>
          <p:nvPr/>
        </p:nvSpPr>
        <p:spPr>
          <a:xfrm>
            <a:off x="8565356" y="2269424"/>
            <a:ext cx="7144" cy="103405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Shape 20"/>
          <p:cNvSpPr/>
          <p:nvPr/>
        </p:nvSpPr>
        <p:spPr>
          <a:xfrm>
            <a:off x="4786313" y="3296338"/>
            <a:ext cx="3786188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Shape 21"/>
          <p:cNvSpPr/>
          <p:nvPr/>
        </p:nvSpPr>
        <p:spPr>
          <a:xfrm>
            <a:off x="4786313" y="2269424"/>
            <a:ext cx="42863" cy="103405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Shape 22"/>
          <p:cNvSpPr/>
          <p:nvPr/>
        </p:nvSpPr>
        <p:spPr>
          <a:xfrm>
            <a:off x="4914900" y="2550709"/>
            <a:ext cx="457200" cy="457200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7775" y="2665009"/>
            <a:ext cx="171450" cy="2286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514975" y="2398012"/>
            <a:ext cx="29289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F172A"/>
                </a:solidFill>
              </a:rPr>
              <a:t>CEET Togo</a:t>
            </a:r>
            <a:endParaRPr lang="en-US" sz="1090" dirty="0"/>
          </a:p>
        </p:txBody>
      </p:sp>
      <p:sp>
        <p:nvSpPr>
          <p:cNvPr id="30" name="Text 24"/>
          <p:cNvSpPr/>
          <p:nvPr/>
        </p:nvSpPr>
        <p:spPr>
          <a:xfrm>
            <a:off x="5514975" y="2648043"/>
            <a:ext cx="29289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Fournisseur de Données</a:t>
            </a:r>
            <a:endParaRPr lang="en-US" sz="784" dirty="0"/>
          </a:p>
        </p:txBody>
      </p:sp>
      <p:sp>
        <p:nvSpPr>
          <p:cNvPr id="31" name="Text 25"/>
          <p:cNvSpPr/>
          <p:nvPr/>
        </p:nvSpPr>
        <p:spPr>
          <a:xfrm>
            <a:off x="5514975" y="2860570"/>
            <a:ext cx="29289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64748B"/>
                </a:solidFill>
              </a:rPr>
              <a:t>Compagnie Énergie Électrique du Togo. Intégration technique et accès aux données de consommation.</a:t>
            </a:r>
            <a:endParaRPr lang="en-US" sz="780" dirty="0"/>
          </a:p>
        </p:txBody>
      </p:sp>
      <p:sp>
        <p:nvSpPr>
          <p:cNvPr id="32" name="Shape 26"/>
          <p:cNvSpPr/>
          <p:nvPr/>
        </p:nvSpPr>
        <p:spPr>
          <a:xfrm>
            <a:off x="4786313" y="3417782"/>
            <a:ext cx="3786188" cy="102334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3" name="Text 27"/>
          <p:cNvSpPr/>
          <p:nvPr/>
        </p:nvSpPr>
        <p:spPr>
          <a:xfrm>
            <a:off x="4914900" y="3546370"/>
            <a:ext cx="35290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0B981"/>
                </a:solidFill>
              </a:rPr>
              <a:t>Synergie de Données</a:t>
            </a:r>
            <a:endParaRPr lang="en-US" sz="987" dirty="0"/>
          </a:p>
        </p:txBody>
      </p:sp>
      <p:sp>
        <p:nvSpPr>
          <p:cNvPr id="34" name="Text 28"/>
          <p:cNvSpPr/>
          <p:nvPr/>
        </p:nvSpPr>
        <p:spPr>
          <a:xfrm>
            <a:off x="4914900" y="3798187"/>
            <a:ext cx="352901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BD5E1"/>
                </a:solidFill>
              </a:rPr>
              <a:t>La collaboration entre les autorités publiques et les fournisseurs d'énergie est la clé pour transformer les données éparses en souveraineté énergétique.</a:t>
            </a:r>
            <a:endParaRPr lang="en-US" sz="834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6613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F172A"/>
                </a:solidFill>
              </a:rPr>
              <a:t>Appel à l'Action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869653"/>
            <a:ext cx="4130371" cy="1760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0F172A"/>
                </a:solidFill>
              </a:rPr>
              <a:t>Transformons les </a:t>
            </a:r>
            <a:pPr algn="l" indent="0" marL="0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10B981"/>
                </a:solidFill>
              </a:rPr>
              <a:t>données éparses</a:t>
            </a:r>
            <a:pPr algn="l" indent="0" marL="0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0F172A"/>
                </a:solidFill>
              </a:rPr>
              <a:t> en </a:t>
            </a:r>
            <a:pPr algn="l" indent="0" marL="0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10B981"/>
                </a:solidFill>
              </a:rPr>
              <a:t>décisions stratégiques</a:t>
            </a:r>
            <a:pPr algn="l" indent="0" marL="0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0F172A"/>
                </a:solidFill>
              </a:rPr>
              <a:t>.</a:t>
            </a:r>
            <a:endParaRPr lang="en-US" sz="2862" dirty="0"/>
          </a:p>
        </p:txBody>
      </p:sp>
      <p:sp>
        <p:nvSpPr>
          <p:cNvPr id="5" name="Text 2"/>
          <p:cNvSpPr/>
          <p:nvPr/>
        </p:nvSpPr>
        <p:spPr>
          <a:xfrm>
            <a:off x="571500" y="3715531"/>
            <a:ext cx="4130371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475569"/>
                </a:solidFill>
              </a:rPr>
              <a:t>Le projet EnergiSight est prêt pour sa phase pilote. Votre collaboration est la clé pour valider ce saut technologique à Lomé.</a:t>
            </a:r>
            <a:endParaRPr lang="en-US" sz="1159" dirty="0"/>
          </a:p>
        </p:txBody>
      </p:sp>
      <p:sp>
        <p:nvSpPr>
          <p:cNvPr id="6" name="Shape 3"/>
          <p:cNvSpPr/>
          <p:nvPr/>
        </p:nvSpPr>
        <p:spPr>
          <a:xfrm>
            <a:off x="5130496" y="1861589"/>
            <a:ext cx="3442004" cy="261639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Shape 4"/>
          <p:cNvSpPr/>
          <p:nvPr/>
        </p:nvSpPr>
        <p:spPr>
          <a:xfrm>
            <a:off x="5130496" y="1861589"/>
            <a:ext cx="3442004" cy="7143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/>
          <p:nvPr/>
        </p:nvSpPr>
        <p:spPr>
          <a:xfrm>
            <a:off x="5416246" y="2068757"/>
            <a:ext cx="287050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spc="1" kern="0" dirty="0">
                <a:solidFill>
                  <a:srgbClr val="10B981"/>
                </a:solidFill>
              </a:rPr>
              <a:t>Besoins Immédiats</a:t>
            </a:r>
            <a:endParaRPr lang="en-US" sz="1397" dirty="0"/>
          </a:p>
        </p:txBody>
      </p:sp>
      <p:sp>
        <p:nvSpPr>
          <p:cNvPr id="9" name="Shape 6"/>
          <p:cNvSpPr/>
          <p:nvPr/>
        </p:nvSpPr>
        <p:spPr>
          <a:xfrm>
            <a:off x="5416246" y="2556318"/>
            <a:ext cx="285750" cy="28575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7"/>
          <p:cNvSpPr/>
          <p:nvPr/>
        </p:nvSpPr>
        <p:spPr>
          <a:xfrm>
            <a:off x="5416246" y="2556318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</a:rPr>
              <a:t>1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5844871" y="2556318"/>
            <a:ext cx="2441879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8FAFC"/>
                </a:solidFill>
              </a:rPr>
              <a:t>Accès aux données :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 Échantillon de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factures anonymisées pour la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calibration finale du modèle.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16246" y="3413568"/>
            <a:ext cx="285750" cy="28575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5416246" y="3413568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</a:rPr>
              <a:t>2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5844871" y="3413568"/>
            <a:ext cx="2441879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8FAFC"/>
                </a:solidFill>
              </a:rPr>
              <a:t>Support Pilote :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 Accompagnement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institutionnel pour le déploiement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sur un quartier cible.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0" y="4675584"/>
            <a:ext cx="9144000" cy="46791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0" y="4675584"/>
            <a:ext cx="9144000" cy="7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848820"/>
            <a:ext cx="128588" cy="1285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71525" y="4825603"/>
            <a:ext cx="14085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4748B"/>
                </a:solidFill>
              </a:rPr>
              <a:t>contact@greensight.tg</a:t>
            </a:r>
            <a:endParaRPr lang="en-US" sz="942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9933" y="4848820"/>
            <a:ext cx="128588" cy="1285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349958" y="4825603"/>
            <a:ext cx="117980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4748B"/>
                </a:solidFill>
              </a:rPr>
              <a:t>www.greensight.tg</a:t>
            </a:r>
            <a:endParaRPr lang="en-US" sz="942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9598" y="4848820"/>
            <a:ext cx="112514" cy="1285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83550" y="4825603"/>
            <a:ext cx="8889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4748B"/>
                </a:solidFill>
              </a:rPr>
              <a:t>EnergiSight AI</a:t>
            </a:r>
            <a:endParaRPr lang="en-US" sz="942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952574"/>
            <a:ext cx="7143750" cy="960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10B981"/>
                </a:solidFill>
              </a:rPr>
              <a:t>Conclusion : Une Nouvelle ère pour l'Urbanisme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1000125" y="2198433"/>
            <a:ext cx="7143750" cy="960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486" dirty="0">
                <a:solidFill>
                  <a:srgbClr val="CBD5E1"/>
                </a:solidFill>
              </a:rPr>
              <a:t>EnergiSight prouve que la rareté des données n'est pas une fatalité. Grâce </a:t>
            </a:r>
            <a:pPr algn="ctr" indent="0" marL="0">
              <a:lnSpc>
                <a:spcPts val="2500"/>
              </a:lnSpc>
              <a:buNone/>
            </a:pPr>
            <a:r>
              <a:rPr lang="en-US" sz="1486" dirty="0">
                <a:solidFill>
                  <a:srgbClr val="CBD5E1"/>
                </a:solidFill>
              </a:rPr>
              <a:t>au </a:t>
            </a:r>
            <a:pPr algn="ctr" indent="0" marL="0">
              <a:lnSpc>
                <a:spcPts val="2500"/>
              </a:lnSpc>
              <a:buNone/>
            </a:pPr>
            <a:r>
              <a:rPr lang="en-US" sz="1397" b="1" dirty="0">
                <a:solidFill>
                  <a:srgbClr val="F8FAFC"/>
                </a:solidFill>
              </a:rPr>
              <a:t>Transfer Learning</a:t>
            </a:r>
            <a:pPr algn="ctr" indent="0" marL="0">
              <a:lnSpc>
                <a:spcPts val="2500"/>
              </a:lnSpc>
              <a:buNone/>
            </a:pPr>
            <a:r>
              <a:rPr lang="en-US" sz="1486" dirty="0">
                <a:solidFill>
                  <a:srgbClr val="CBD5E1"/>
                </a:solidFill>
              </a:rPr>
              <a:t> et aux statistiques nationales, Lomé peut </a:t>
            </a:r>
            <a:pPr algn="ctr" indent="0" marL="0">
              <a:lnSpc>
                <a:spcPts val="2500"/>
              </a:lnSpc>
              <a:buNone/>
            </a:pPr>
            <a:r>
              <a:rPr lang="en-US" sz="1397" b="1" dirty="0">
                <a:solidFill>
                  <a:srgbClr val="F8FAFC"/>
                </a:solidFill>
              </a:rPr>
              <a:t>"sauter les étapes"</a:t>
            </a:r>
            <a:pPr algn="ctr" indent="0" marL="0">
              <a:lnSpc>
                <a:spcPts val="2500"/>
              </a:lnSpc>
              <a:buNone/>
            </a:pPr>
            <a:r>
              <a:rPr lang="en-US" sz="1486" dirty="0">
                <a:solidFill>
                  <a:srgbClr val="CBD5E1"/>
                </a:solidFill>
              </a:rPr>
              <a:t> vers une gestion intelligente et durable.</a:t>
            </a:r>
            <a:endParaRPr lang="en-US" sz="1486" dirty="0"/>
          </a:p>
        </p:txBody>
      </p:sp>
      <p:sp>
        <p:nvSpPr>
          <p:cNvPr id="5" name="Text 2"/>
          <p:cNvSpPr/>
          <p:nvPr/>
        </p:nvSpPr>
        <p:spPr>
          <a:xfrm>
            <a:off x="1000125" y="3729986"/>
            <a:ext cx="7143750" cy="650081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8FAFC"/>
                </a:solidFill>
              </a:rPr>
              <a:t>Vers une souveraineté énergétique pilotée par la donnée.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571500" y="4480917"/>
            <a:ext cx="2338518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GreenSight - Février 2026 - Lomé, Togo</a:t>
            </a:r>
            <a:endParaRPr lang="en-US" sz="942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0343" y="4512171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83230" y="4480917"/>
            <a:ext cx="98927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B981"/>
                </a:solidFill>
              </a:rPr>
              <a:t>EnergiSight</a:t>
            </a:r>
            <a:endParaRPr lang="en-US" sz="119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2026-02-18T04:19:12Z</dcterms:created>
  <dcterms:modified xsi:type="dcterms:W3CDTF">2026-02-18T04:19:12Z</dcterms:modified>
</cp:coreProperties>
</file>