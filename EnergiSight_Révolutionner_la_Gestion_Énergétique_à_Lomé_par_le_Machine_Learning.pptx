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349025"/>
            <a:ext cx="642937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EnergiSight: Révolutionner la Gestion Énergétique à Lomé par le Machine Learning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14375" y="2972051"/>
            <a:ext cx="84296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spc="2" kern="0" dirty="0">
                <a:solidFill>
                  <a:srgbClr val="38BD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UNE APPROCHE DATA-DRIVEN POUR LA TRANSITION ÉNERGÉTIQUE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714375" y="3534621"/>
            <a:ext cx="4286250" cy="5661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14375" y="3534621"/>
            <a:ext cx="4286250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3681068"/>
            <a:ext cx="428625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NADJAK Moyinib Pierre Damien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14375" y="3943601"/>
            <a:ext cx="428625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spc="1" kern="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Programme D-CLIC · OIF 2024–2025 | Senior Data Science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713231"/>
            <a:ext cx="1626989" cy="5429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241868"/>
            <a:ext cx="1626989" cy="14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713231"/>
            <a:ext cx="1626989" cy="542925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Sommaire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14375" y="1670493"/>
            <a:ext cx="285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1143000" y="1745503"/>
            <a:ext cx="31307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Contexte &amp; Enjeux: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Le défi énergétique de Lomé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86313" y="1670493"/>
            <a:ext cx="285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214938" y="1745503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EnergiSight: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L'IA au service de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l'efficacité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4375" y="2302715"/>
            <a:ext cx="285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1143000" y="2377725"/>
            <a:ext cx="28914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Pipeline de Données: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Rigueur et préparation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86313" y="2302715"/>
            <a:ext cx="285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5214938" y="2377725"/>
            <a:ext cx="30253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 Engineering: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Créer de la valeur métier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4375" y="2783132"/>
            <a:ext cx="285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1143000" y="2858142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Performance Énergie: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Prédire la consommation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(Target 1)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86313" y="2783132"/>
            <a:ext cx="285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5214938" y="2858142"/>
            <a:ext cx="321468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Performance CO₂: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Prédire les émissions (Target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14375" y="3418926"/>
            <a:ext cx="285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07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1143000" y="3493936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Interprétabilité (SHAP):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Comprendre les leviers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d'action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86313" y="3418926"/>
            <a:ext cx="285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08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5214938" y="3493936"/>
            <a:ext cx="32039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Adaptation Locale: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Le défi du Domain Adaptation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14375" y="4051148"/>
            <a:ext cx="285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09</a:t>
            </a:r>
            <a:endParaRPr lang="en-US" sz="1397" dirty="0"/>
          </a:p>
        </p:txBody>
      </p:sp>
      <p:sp>
        <p:nvSpPr>
          <p:cNvPr id="23" name="Text 20"/>
          <p:cNvSpPr/>
          <p:nvPr/>
        </p:nvSpPr>
        <p:spPr>
          <a:xfrm>
            <a:off x="1143000" y="4126157"/>
            <a:ext cx="3214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Stratégie Technique: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Stacking &amp; Features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spécifiques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86313" y="4051148"/>
            <a:ext cx="285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</a:t>
            </a:r>
            <a:endParaRPr lang="en-US" sz="1397" dirty="0"/>
          </a:p>
        </p:txBody>
      </p:sp>
      <p:sp>
        <p:nvSpPr>
          <p:cNvPr id="25" name="Text 22"/>
          <p:cNvSpPr/>
          <p:nvPr/>
        </p:nvSpPr>
        <p:spPr>
          <a:xfrm>
            <a:off x="5214938" y="4126157"/>
            <a:ext cx="28610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Vision Produit: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Architecture et déploiement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14375" y="4683370"/>
            <a:ext cx="285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11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1143000" y="4758379"/>
            <a:ext cx="2593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Bilan &amp; Perspectives: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Mesurer pour agir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618353"/>
            <a:ext cx="7715250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93400"/>
            <a:ext cx="771525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618353"/>
            <a:ext cx="7715250" cy="38219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Lomé fait face à un déficit de données énergétiques critique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14375" y="1450600"/>
            <a:ext cx="3714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Réseau Électrique Carboné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14375" y="1786356"/>
            <a:ext cx="3714750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45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12x</a:t>
            </a:r>
            <a:endParaRPr lang="en-US" sz="2145" dirty="0"/>
          </a:p>
        </p:txBody>
      </p:sp>
      <p:sp>
        <p:nvSpPr>
          <p:cNvPr id="8" name="Text 5"/>
          <p:cNvSpPr/>
          <p:nvPr/>
        </p:nvSpPr>
        <p:spPr>
          <a:xfrm>
            <a:off x="714375" y="2295348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 mix énergétique local est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 fois plus carboné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que celui de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Seattle (0.62 vs 0.05 kgCO₂/kWh). Une dépendance critique au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thermique.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714875" y="1450600"/>
            <a:ext cx="3714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Consommation Cachée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714875" y="1786356"/>
            <a:ext cx="3714750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45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73%</a:t>
            </a:r>
            <a:endParaRPr lang="en-US" sz="2145" dirty="0"/>
          </a:p>
        </p:txBody>
      </p:sp>
      <p:sp>
        <p:nvSpPr>
          <p:cNvPr id="11" name="Text 8"/>
          <p:cNvSpPr/>
          <p:nvPr/>
        </p:nvSpPr>
        <p:spPr>
          <a:xfrm>
            <a:off x="4714875" y="2295348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Près de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73% des bâtiments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utilisent des générateurs diesel non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monitorés pour pallier les délestages fréquents.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714375" y="3498289"/>
            <a:ext cx="3714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Climatisation Intensive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714375" y="3834045"/>
            <a:ext cx="3714750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45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80%</a:t>
            </a:r>
            <a:endParaRPr lang="en-US" sz="2145" dirty="0"/>
          </a:p>
        </p:txBody>
      </p:sp>
      <p:sp>
        <p:nvSpPr>
          <p:cNvPr id="14" name="Text 11"/>
          <p:cNvSpPr/>
          <p:nvPr/>
        </p:nvSpPr>
        <p:spPr>
          <a:xfrm>
            <a:off x="714375" y="4343037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Avec 27°C toute l'année,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80% des bâtiments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sollicitent la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climatisation en continu, représentant le premier poste de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dépense énergétique.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714875" y="3498289"/>
            <a:ext cx="3714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Absence de Données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714875" y="3834045"/>
            <a:ext cx="3714750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45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</a:t>
            </a:r>
            <a:endParaRPr lang="en-US" sz="2145" dirty="0"/>
          </a:p>
        </p:txBody>
      </p:sp>
      <p:sp>
        <p:nvSpPr>
          <p:cNvPr id="17" name="Text 14"/>
          <p:cNvSpPr/>
          <p:nvPr/>
        </p:nvSpPr>
        <p:spPr>
          <a:xfrm>
            <a:off x="4714875" y="4343037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Aucune base de données publique disponible. L'absence de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visibilité bloque toute politique de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transition énergétique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efficace.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618353"/>
            <a:ext cx="7715250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93400"/>
            <a:ext cx="771525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618353"/>
            <a:ext cx="7715250" cy="38219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EnergiSight prédit l'énergie et le CO₂ sans relevés physiques coûteux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14375" y="1479175"/>
            <a:ext cx="437197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L'IA au service de l'efficacité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14375" y="1888155"/>
            <a:ext cx="4371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EnergiSight transforme des caractéristiques structurelles simples et observables en insights énergétiques précis. En utilisant le Machine Learning, nous éliminons le besoin de campagnes de relevés physiques complexes et onéreuses.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4375" y="3238323"/>
            <a:ext cx="437197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Valeur Ajoutée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714375" y="3518715"/>
            <a:ext cx="43719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i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Réduction drastique des coûts d'audit énergétique, estimés à plus de 50 000 FCFA par bâtiment.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5514975" y="1350587"/>
            <a:ext cx="1165854" cy="389334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Dataset Source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6680829" y="1350587"/>
            <a:ext cx="1748796" cy="389334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Seattle 2016 Benchmarking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514975" y="1739922"/>
            <a:ext cx="1165854" cy="52863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Taille Filtrée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680829" y="1739922"/>
            <a:ext cx="1748796" cy="52863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1 648 bâtiments non résidentiels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514975" y="2268559"/>
            <a:ext cx="1165854" cy="52863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Cibles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680829" y="2268559"/>
            <a:ext cx="1748796" cy="528638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SiteEnergyUse &amp; GHGEmissions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514975" y="2797197"/>
            <a:ext cx="1165854" cy="392906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Features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680829" y="2797197"/>
            <a:ext cx="1748796" cy="392906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58 variables optimisées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618353"/>
            <a:ext cx="7715250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93400"/>
            <a:ext cx="771525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618353"/>
            <a:ext cx="7715250" cy="38219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 pipeline de données rigoureux garantit la fiabilité des modèles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14375" y="1136275"/>
            <a:ext cx="3536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38BDF8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592" dirty="0"/>
          </a:p>
        </p:txBody>
      </p:sp>
      <p:sp>
        <p:nvSpPr>
          <p:cNvPr id="7" name="Text 4"/>
          <p:cNvSpPr/>
          <p:nvPr/>
        </p:nvSpPr>
        <p:spPr>
          <a:xfrm>
            <a:off x="714375" y="1650625"/>
            <a:ext cx="1768078" cy="33039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Nettoyage &amp; Filtrage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714375" y="2123898"/>
            <a:ext cx="17680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Suppression des incohérences physiques (conso ≤ 0, surface ≤ 0). Filtrage strict des bâtiments non résidentiels uniquement.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2696766" y="1136275"/>
            <a:ext cx="400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38BDF8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592" dirty="0"/>
          </a:p>
        </p:txBody>
      </p:sp>
      <p:sp>
        <p:nvSpPr>
          <p:cNvPr id="10" name="Text 7"/>
          <p:cNvSpPr/>
          <p:nvPr/>
        </p:nvSpPr>
        <p:spPr>
          <a:xfrm>
            <a:off x="2696766" y="1650625"/>
            <a:ext cx="1768078" cy="33039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Gestion des Outliers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2696766" y="2123898"/>
            <a:ext cx="176807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Application de la log-transformation (log1p) pour stabiliser les distributions asymétriques et réduire l'influence des valeurs extrêmes.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679156" y="1136275"/>
            <a:ext cx="38933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38BDF8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592" dirty="0"/>
          </a:p>
        </p:txBody>
      </p:sp>
      <p:sp>
        <p:nvSpPr>
          <p:cNvPr id="13" name="Text 10"/>
          <p:cNvSpPr/>
          <p:nvPr/>
        </p:nvSpPr>
        <p:spPr>
          <a:xfrm>
            <a:off x="4679156" y="1650625"/>
            <a:ext cx="1768078" cy="33039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Imputation KNN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4679156" y="2123898"/>
            <a:ext cx="176807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Traitement des valeurs manquantes (ex: EnergyStarScore) via l'algorithme K-Nearest Neighbors (k=5) pour préserver la structure des données.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6661547" y="1136275"/>
            <a:ext cx="39826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38BDF8">
                    <a:alpha val="5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2592" dirty="0"/>
          </a:p>
        </p:txBody>
      </p:sp>
      <p:sp>
        <p:nvSpPr>
          <p:cNvPr id="16" name="Text 13"/>
          <p:cNvSpPr/>
          <p:nvPr/>
        </p:nvSpPr>
        <p:spPr>
          <a:xfrm>
            <a:off x="6661547" y="1650625"/>
            <a:ext cx="1768078" cy="33039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Analyse VIF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6661547" y="2123898"/>
            <a:ext cx="176807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Élimination de la multicolinéarité par le calcul du Variance Inflation Factor. 21 variables redondantes supprimées pour un modèle robuste.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714375" y="3524073"/>
            <a:ext cx="7715250" cy="9686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14375" y="3524073"/>
            <a:ext cx="771525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7"/>
          <p:cNvSpPr/>
          <p:nvPr/>
        </p:nvSpPr>
        <p:spPr>
          <a:xfrm>
            <a:off x="928688" y="3928393"/>
            <a:ext cx="707052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Audit de "Data Leakage"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928688" y="4233788"/>
            <a:ext cx="707052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Vérification systématique de l'intégrité du pipeline : aucune information future ou variable cible indirecte n'a été utilisée lors de l'entraînement.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18353"/>
            <a:ext cx="8001000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93400"/>
            <a:ext cx="800100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18353"/>
            <a:ext cx="8001000" cy="38219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Feature Engineering transforme les données brutes en leviers métier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429169"/>
            <a:ext cx="25003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</a:t>
            </a:r>
            <a:endParaRPr lang="en-US" sz="2592" dirty="0"/>
          </a:p>
        </p:txBody>
      </p:sp>
      <p:sp>
        <p:nvSpPr>
          <p:cNvPr id="7" name="Text 4"/>
          <p:cNvSpPr/>
          <p:nvPr/>
        </p:nvSpPr>
        <p:spPr>
          <a:xfrm>
            <a:off x="571500" y="1922087"/>
            <a:ext cx="209669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spc="1" kern="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NOUVELLES VARIABLES CRÉÉES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440009"/>
            <a:ext cx="25003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58</a:t>
            </a:r>
            <a:endParaRPr lang="en-US" sz="2592" dirty="0"/>
          </a:p>
        </p:txBody>
      </p:sp>
      <p:sp>
        <p:nvSpPr>
          <p:cNvPr id="9" name="Text 6"/>
          <p:cNvSpPr/>
          <p:nvPr/>
        </p:nvSpPr>
        <p:spPr>
          <a:xfrm>
            <a:off x="571500" y="2932928"/>
            <a:ext cx="210740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spc="1" kern="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FEATURES FINALES OPTIMISÉES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443706"/>
            <a:ext cx="250031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 passage de 46 colonnes brutes à 58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features métier permet de capturer la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complexité structurelle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et l'obsolescence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thermique des bâtiments.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3500438" y="1279150"/>
            <a:ext cx="5072063" cy="3116014"/>
          </a:xfrm>
          <a:prstGeom prst="rect">
            <a:avLst/>
          </a:prstGeom>
          <a:solidFill>
            <a:srgbClr val="F8FAFC">
              <a:alpha val="3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714750" y="1564900"/>
            <a:ext cx="1857375" cy="308967"/>
          </a:xfrm>
          <a:prstGeom prst="rect">
            <a:avLst/>
          </a:prstGeom>
          <a:noFill/>
          <a:ln/>
        </p:spPr>
        <p:txBody>
          <a:bodyPr wrap="square" lIns="8509" tIns="8509" rIns="8509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Indicateur Clé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572125" y="1564900"/>
            <a:ext cx="2786063" cy="308967"/>
          </a:xfrm>
          <a:prstGeom prst="rect">
            <a:avLst/>
          </a:prstGeom>
          <a:noFill/>
          <a:ln/>
        </p:spPr>
        <p:txBody>
          <a:bodyPr wrap="square" lIns="8509" tIns="8509" rIns="8509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Justification Métier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3721894" y="2052098"/>
            <a:ext cx="908707" cy="183952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721894" y="2052098"/>
            <a:ext cx="908707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building_age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5572125" y="1873867"/>
            <a:ext cx="2786063" cy="541474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Capture l'obsolescence thermique et la dégradation de l'isolation au fil du temps.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3721894" y="2593572"/>
            <a:ext cx="771525" cy="183952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721894" y="2593572"/>
            <a:ext cx="771525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elec_ratio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572125" y="2415341"/>
            <a:ext cx="2786063" cy="541474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Détermine l'empreinte carbone directe en isolant la part électrique du mix énergétique.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3721894" y="3135046"/>
            <a:ext cx="1457325" cy="183952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721894" y="3135046"/>
            <a:ext cx="1457325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propertygfatotal_log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572125" y="2956815"/>
            <a:ext cx="2786063" cy="541474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Prédicteur physique universel #1. Réduit l'asymétrie pour une meilleure stabilité du modèle.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3721894" y="3676520"/>
            <a:ext cx="1457325" cy="183952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721894" y="3676520"/>
            <a:ext cx="1457325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renovation_potential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5572125" y="3498289"/>
            <a:ext cx="2786063" cy="541474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Score stratégique combinant l'âge et l'efficacité actuelle pour prioriser les audits.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18353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97009"/>
            <a:ext cx="800100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18353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XGBoost atteint une précision exceptionnelle pour la consommation énergétique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625622"/>
            <a:ext cx="3086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504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99.03%</a:t>
            </a:r>
            <a:endParaRPr lang="en-US" sz="3504" dirty="0"/>
          </a:p>
        </p:txBody>
      </p:sp>
      <p:sp>
        <p:nvSpPr>
          <p:cNvPr id="7" name="Text 4"/>
          <p:cNvSpPr/>
          <p:nvPr/>
        </p:nvSpPr>
        <p:spPr>
          <a:xfrm>
            <a:off x="571500" y="2118540"/>
            <a:ext cx="308610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spc="1" kern="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R² SCORE (TEST SET)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386431"/>
            <a:ext cx="3086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504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3.50%</a:t>
            </a:r>
            <a:endParaRPr lang="en-US" sz="3504" dirty="0"/>
          </a:p>
        </p:txBody>
      </p:sp>
      <p:sp>
        <p:nvSpPr>
          <p:cNvPr id="9" name="Text 6"/>
          <p:cNvSpPr/>
          <p:nvPr/>
        </p:nvSpPr>
        <p:spPr>
          <a:xfrm>
            <a:off x="571500" y="2879350"/>
            <a:ext cx="308610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spc="1" kern="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ERREUR MÉDIANE (MDAPE)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204390"/>
            <a:ext cx="3086100" cy="30718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38BD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"La moitié des bâtiments sont prédits avec moins de 3.5% d'erreur, sans aucun capteur physique."</a:t>
            </a:r>
            <a:endParaRPr lang="en-US" sz="942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54447"/>
            <a:ext cx="3086100" cy="1000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43350" y="1654197"/>
            <a:ext cx="1904535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Modèle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5847885" y="1654197"/>
            <a:ext cx="804007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R² Test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6651892" y="1654197"/>
            <a:ext cx="910856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MAPE %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7562748" y="1654197"/>
            <a:ext cx="1009752" cy="3303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MdAPE %</a:t>
            </a:r>
            <a:endParaRPr lang="en-US" sz="784" dirty="0"/>
          </a:p>
        </p:txBody>
      </p:sp>
      <p:sp>
        <p:nvSpPr>
          <p:cNvPr id="16" name="Text 12"/>
          <p:cNvSpPr/>
          <p:nvPr/>
        </p:nvSpPr>
        <p:spPr>
          <a:xfrm>
            <a:off x="3943350" y="1984595"/>
            <a:ext cx="1904535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Ridge Regression</a:t>
            </a:r>
            <a:endParaRPr lang="en-US" sz="834" dirty="0"/>
          </a:p>
        </p:txBody>
      </p:sp>
      <p:sp>
        <p:nvSpPr>
          <p:cNvPr id="17" name="Text 13"/>
          <p:cNvSpPr/>
          <p:nvPr/>
        </p:nvSpPr>
        <p:spPr>
          <a:xfrm>
            <a:off x="5847885" y="1984595"/>
            <a:ext cx="804007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0.9846</a:t>
            </a:r>
            <a:endParaRPr lang="en-US" sz="834" dirty="0"/>
          </a:p>
        </p:txBody>
      </p:sp>
      <p:sp>
        <p:nvSpPr>
          <p:cNvPr id="18" name="Text 14"/>
          <p:cNvSpPr/>
          <p:nvPr/>
        </p:nvSpPr>
        <p:spPr>
          <a:xfrm>
            <a:off x="6651892" y="1984595"/>
            <a:ext cx="910856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10.16%</a:t>
            </a:r>
            <a:endParaRPr lang="en-US" sz="834" dirty="0"/>
          </a:p>
        </p:txBody>
      </p:sp>
      <p:sp>
        <p:nvSpPr>
          <p:cNvPr id="19" name="Text 15"/>
          <p:cNvSpPr/>
          <p:nvPr/>
        </p:nvSpPr>
        <p:spPr>
          <a:xfrm>
            <a:off x="7562748" y="1984595"/>
            <a:ext cx="1009752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6.21%</a:t>
            </a:r>
            <a:endParaRPr lang="en-US" sz="834" dirty="0"/>
          </a:p>
        </p:txBody>
      </p:sp>
      <p:sp>
        <p:nvSpPr>
          <p:cNvPr id="20" name="Text 16"/>
          <p:cNvSpPr/>
          <p:nvPr/>
        </p:nvSpPr>
        <p:spPr>
          <a:xfrm>
            <a:off x="3943350" y="2304278"/>
            <a:ext cx="1904535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Lasso Regression</a:t>
            </a:r>
            <a:endParaRPr lang="en-US" sz="834" dirty="0"/>
          </a:p>
        </p:txBody>
      </p:sp>
      <p:sp>
        <p:nvSpPr>
          <p:cNvPr id="21" name="Text 17"/>
          <p:cNvSpPr/>
          <p:nvPr/>
        </p:nvSpPr>
        <p:spPr>
          <a:xfrm>
            <a:off x="5847885" y="2304278"/>
            <a:ext cx="804007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0.9850</a:t>
            </a:r>
            <a:endParaRPr lang="en-US" sz="834" dirty="0"/>
          </a:p>
        </p:txBody>
      </p:sp>
      <p:sp>
        <p:nvSpPr>
          <p:cNvPr id="22" name="Text 18"/>
          <p:cNvSpPr/>
          <p:nvPr/>
        </p:nvSpPr>
        <p:spPr>
          <a:xfrm>
            <a:off x="6651892" y="2304278"/>
            <a:ext cx="910856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9.27%</a:t>
            </a:r>
            <a:endParaRPr lang="en-US" sz="834" dirty="0"/>
          </a:p>
        </p:txBody>
      </p:sp>
      <p:sp>
        <p:nvSpPr>
          <p:cNvPr id="23" name="Text 19"/>
          <p:cNvSpPr/>
          <p:nvPr/>
        </p:nvSpPr>
        <p:spPr>
          <a:xfrm>
            <a:off x="7562748" y="2304278"/>
            <a:ext cx="1009752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5.89%</a:t>
            </a:r>
            <a:endParaRPr lang="en-US" sz="834" dirty="0"/>
          </a:p>
        </p:txBody>
      </p:sp>
      <p:sp>
        <p:nvSpPr>
          <p:cNvPr id="24" name="Text 20"/>
          <p:cNvSpPr/>
          <p:nvPr/>
        </p:nvSpPr>
        <p:spPr>
          <a:xfrm>
            <a:off x="3943350" y="2620389"/>
            <a:ext cx="1904535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Random Forest</a:t>
            </a:r>
            <a:endParaRPr lang="en-US" sz="834" dirty="0"/>
          </a:p>
        </p:txBody>
      </p:sp>
      <p:sp>
        <p:nvSpPr>
          <p:cNvPr id="25" name="Text 21"/>
          <p:cNvSpPr/>
          <p:nvPr/>
        </p:nvSpPr>
        <p:spPr>
          <a:xfrm>
            <a:off x="5847885" y="2620389"/>
            <a:ext cx="804007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0.9897</a:t>
            </a:r>
            <a:endParaRPr lang="en-US" sz="834" dirty="0"/>
          </a:p>
        </p:txBody>
      </p:sp>
      <p:sp>
        <p:nvSpPr>
          <p:cNvPr id="26" name="Text 22"/>
          <p:cNvSpPr/>
          <p:nvPr/>
        </p:nvSpPr>
        <p:spPr>
          <a:xfrm>
            <a:off x="6651892" y="2620389"/>
            <a:ext cx="910856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7.72%</a:t>
            </a:r>
            <a:endParaRPr lang="en-US" sz="834" dirty="0"/>
          </a:p>
        </p:txBody>
      </p:sp>
      <p:sp>
        <p:nvSpPr>
          <p:cNvPr id="27" name="Text 23"/>
          <p:cNvSpPr/>
          <p:nvPr/>
        </p:nvSpPr>
        <p:spPr>
          <a:xfrm>
            <a:off x="7562748" y="2620389"/>
            <a:ext cx="1009752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4.82%</a:t>
            </a:r>
            <a:endParaRPr lang="en-US" sz="834" dirty="0"/>
          </a:p>
        </p:txBody>
      </p:sp>
      <p:sp>
        <p:nvSpPr>
          <p:cNvPr id="28" name="Shape 24"/>
          <p:cNvSpPr/>
          <p:nvPr/>
        </p:nvSpPr>
        <p:spPr>
          <a:xfrm>
            <a:off x="3943350" y="2936500"/>
            <a:ext cx="4629150" cy="316111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4029075" y="3025797"/>
            <a:ext cx="11019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XGBoost (Production)</a:t>
            </a:r>
            <a:endParaRPr lang="en-US" sz="784" dirty="0"/>
          </a:p>
        </p:txBody>
      </p:sp>
      <p:sp>
        <p:nvSpPr>
          <p:cNvPr id="30" name="Text 26"/>
          <p:cNvSpPr/>
          <p:nvPr/>
        </p:nvSpPr>
        <p:spPr>
          <a:xfrm>
            <a:off x="5933610" y="3025797"/>
            <a:ext cx="3554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0.9901</a:t>
            </a:r>
            <a:endParaRPr lang="en-US" sz="784" dirty="0"/>
          </a:p>
        </p:txBody>
      </p:sp>
      <p:sp>
        <p:nvSpPr>
          <p:cNvPr id="31" name="Text 27"/>
          <p:cNvSpPr/>
          <p:nvPr/>
        </p:nvSpPr>
        <p:spPr>
          <a:xfrm>
            <a:off x="6737617" y="3025797"/>
            <a:ext cx="31253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6.85%</a:t>
            </a:r>
            <a:endParaRPr lang="en-US" sz="784" dirty="0"/>
          </a:p>
        </p:txBody>
      </p:sp>
      <p:sp>
        <p:nvSpPr>
          <p:cNvPr id="32" name="Text 28"/>
          <p:cNvSpPr/>
          <p:nvPr/>
        </p:nvSpPr>
        <p:spPr>
          <a:xfrm>
            <a:off x="7648473" y="3025797"/>
            <a:ext cx="31253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4.12%</a:t>
            </a:r>
            <a:endParaRPr lang="en-US" sz="784" dirty="0"/>
          </a:p>
        </p:txBody>
      </p:sp>
      <p:sp>
        <p:nvSpPr>
          <p:cNvPr id="33" name="Text 29"/>
          <p:cNvSpPr/>
          <p:nvPr/>
        </p:nvSpPr>
        <p:spPr>
          <a:xfrm>
            <a:off x="3943350" y="3252611"/>
            <a:ext cx="1904535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LightGBM</a:t>
            </a:r>
            <a:endParaRPr lang="en-US" sz="834" dirty="0"/>
          </a:p>
        </p:txBody>
      </p:sp>
      <p:sp>
        <p:nvSpPr>
          <p:cNvPr id="34" name="Text 30"/>
          <p:cNvSpPr/>
          <p:nvPr/>
        </p:nvSpPr>
        <p:spPr>
          <a:xfrm>
            <a:off x="5847885" y="3252611"/>
            <a:ext cx="804007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0.9902</a:t>
            </a:r>
            <a:endParaRPr lang="en-US" sz="834" dirty="0"/>
          </a:p>
        </p:txBody>
      </p:sp>
      <p:sp>
        <p:nvSpPr>
          <p:cNvPr id="35" name="Text 31"/>
          <p:cNvSpPr/>
          <p:nvPr/>
        </p:nvSpPr>
        <p:spPr>
          <a:xfrm>
            <a:off x="6651892" y="3252611"/>
            <a:ext cx="910856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6.96%</a:t>
            </a:r>
            <a:endParaRPr lang="en-US" sz="834" dirty="0"/>
          </a:p>
        </p:txBody>
      </p:sp>
      <p:sp>
        <p:nvSpPr>
          <p:cNvPr id="36" name="Text 32"/>
          <p:cNvSpPr/>
          <p:nvPr/>
        </p:nvSpPr>
        <p:spPr>
          <a:xfrm>
            <a:off x="7562748" y="3252611"/>
            <a:ext cx="1009752" cy="3161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4.28%</a:t>
            </a:r>
            <a:endParaRPr lang="en-US" sz="834" dirty="0"/>
          </a:p>
        </p:txBody>
      </p:sp>
      <p:sp>
        <p:nvSpPr>
          <p:cNvPr id="37" name="Text 33"/>
          <p:cNvSpPr/>
          <p:nvPr/>
        </p:nvSpPr>
        <p:spPr>
          <a:xfrm>
            <a:off x="3943350" y="3715169"/>
            <a:ext cx="462915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* XGBoost optimisé par GridSearch (500 estimateurs, profondeur 4, learning rate 0.05).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618353"/>
            <a:ext cx="7715250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93400"/>
            <a:ext cx="771525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618353"/>
            <a:ext cx="7715250" cy="38219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mix énergétique permet une prédiction CO₂ encore plus précise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14375" y="1963610"/>
            <a:ext cx="364331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410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99.53%</a:t>
            </a:r>
            <a:endParaRPr lang="en-US" sz="4410" dirty="0"/>
          </a:p>
        </p:txBody>
      </p:sp>
      <p:sp>
        <p:nvSpPr>
          <p:cNvPr id="7" name="Text 4"/>
          <p:cNvSpPr/>
          <p:nvPr/>
        </p:nvSpPr>
        <p:spPr>
          <a:xfrm>
            <a:off x="714375" y="2606548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spc="2" kern="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R² TEST (RECORD)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4375" y="3063748"/>
            <a:ext cx="364331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410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~6%</a:t>
            </a:r>
            <a:endParaRPr lang="en-US" sz="4410" dirty="0"/>
          </a:p>
        </p:txBody>
      </p:sp>
      <p:sp>
        <p:nvSpPr>
          <p:cNvPr id="9" name="Text 6"/>
          <p:cNvSpPr/>
          <p:nvPr/>
        </p:nvSpPr>
        <p:spPr>
          <a:xfrm>
            <a:off x="714375" y="3706685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spc="2" kern="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ERREUR MOYENNE (MAPE)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86313" y="1622050"/>
            <a:ext cx="3643313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Pourquoi R²(CO₂) &gt; R²(Énergie) ?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786313" y="2031030"/>
            <a:ext cx="3643313" cy="655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 résultat exceptionnel s'explique par la structure physique des émissions : le mix énergétique (part d'électricité et usage du gaz) prédit quasi-directement les émissions de CO₂.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786313" y="2865369"/>
            <a:ext cx="3643313" cy="655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variance résiduelle des émissions est plus faible que celle de la consommation brute, car les facteurs d'émission sont des constantes physiques stables.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786313" y="4014034"/>
            <a:ext cx="3643313" cy="655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Modèle de Production :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XGBoost s'impose comme l'algorithme le 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plus performant pour identifier instantanément les bâtiments les </a:t>
            </a:r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plus polluants.</a:t>
            </a:r>
            <a:endParaRPr lang="en-US" sz="8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18353"/>
            <a:ext cx="8001000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93400"/>
            <a:ext cx="800100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18353"/>
            <a:ext cx="8001000" cy="38219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L'analyse SHAP révèle les véritables moteurs de la consommation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479175"/>
            <a:ext cx="344197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Comprendre pour agir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571500" y="1888155"/>
            <a:ext cx="3441976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L'analyse SHAP (SHapley Additive exPlanations) permet de décomposer la contribution de chaque variable à la prédiction finale, offrant une transparence totale sur les décisions du modèle.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043210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#1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1000125" y="3003919"/>
            <a:ext cx="301335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 Totale 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Prédicteur physique universel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dominant.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3536128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#2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1000125" y="3496838"/>
            <a:ext cx="301335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Âge du Bâtiment 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Impact direct de l'obsolescence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thermique.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4029047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#3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1000125" y="3989756"/>
            <a:ext cx="301335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Type de Bâtiment :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Les hôpitaux et data centers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consomment 5x plus.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4442101" y="1279150"/>
            <a:ext cx="4130399" cy="3124944"/>
          </a:xfrm>
          <a:prstGeom prst="rect">
            <a:avLst/>
          </a:prstGeom>
          <a:solidFill>
            <a:srgbClr val="F8FAFC">
              <a:alpha val="3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656413" y="1493462"/>
            <a:ext cx="960332" cy="289322"/>
          </a:xfrm>
          <a:prstGeom prst="rect">
            <a:avLst/>
          </a:prstGeom>
          <a:noFill/>
          <a:ln/>
        </p:spPr>
        <p:txBody>
          <a:bodyPr wrap="square" lIns="8509" tIns="8509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Feature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616746" y="1493462"/>
            <a:ext cx="1123690" cy="289322"/>
          </a:xfrm>
          <a:prstGeom prst="rect">
            <a:avLst/>
          </a:prstGeom>
          <a:noFill/>
          <a:ln/>
        </p:spPr>
        <p:txBody>
          <a:bodyPr wrap="square" lIns="8509" tIns="8509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Rang Énergie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740435" y="1493462"/>
            <a:ext cx="803393" cy="289322"/>
          </a:xfrm>
          <a:prstGeom prst="rect">
            <a:avLst/>
          </a:prstGeom>
          <a:noFill/>
          <a:ln/>
        </p:spPr>
        <p:txBody>
          <a:bodyPr wrap="square" lIns="8509" tIns="8509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Rang CO₂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7543828" y="1493462"/>
            <a:ext cx="814360" cy="289322"/>
          </a:xfrm>
          <a:prstGeom prst="rect">
            <a:avLst/>
          </a:prstGeom>
          <a:noFill/>
          <a:ln/>
        </p:spPr>
        <p:txBody>
          <a:bodyPr wrap="square" lIns="8509" tIns="8509" rIns="8509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Évolution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656413" y="1782784"/>
            <a:ext cx="960332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 Totale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5616746" y="1782784"/>
            <a:ext cx="1123690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#1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6740435" y="1782784"/>
            <a:ext cx="803393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#1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7543828" y="1782784"/>
            <a:ext cx="814360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 Stable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4656413" y="2134614"/>
            <a:ext cx="960332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Mix Électrique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5616746" y="2134614"/>
            <a:ext cx="1123690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#5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6740435" y="2134614"/>
            <a:ext cx="803393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#2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7543828" y="2134614"/>
            <a:ext cx="814360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0B98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↑↑ +3</a:t>
            </a:r>
            <a:endParaRPr lang="en-US" sz="734" dirty="0"/>
          </a:p>
        </p:txBody>
      </p:sp>
      <p:sp>
        <p:nvSpPr>
          <p:cNvPr id="27" name="Text 24"/>
          <p:cNvSpPr/>
          <p:nvPr/>
        </p:nvSpPr>
        <p:spPr>
          <a:xfrm>
            <a:off x="4656413" y="2486444"/>
            <a:ext cx="960332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Usage Gaz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5616746" y="2486444"/>
            <a:ext cx="1123690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#8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6740435" y="2486444"/>
            <a:ext cx="803393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#3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7543828" y="2486444"/>
            <a:ext cx="814360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0B98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↑↑ +5</a:t>
            </a:r>
            <a:endParaRPr lang="en-US" sz="734" dirty="0"/>
          </a:p>
        </p:txBody>
      </p:sp>
      <p:sp>
        <p:nvSpPr>
          <p:cNvPr id="31" name="Text 28"/>
          <p:cNvSpPr/>
          <p:nvPr/>
        </p:nvSpPr>
        <p:spPr>
          <a:xfrm>
            <a:off x="4656413" y="2838273"/>
            <a:ext cx="960332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Âge Bâtiment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5616746" y="2838273"/>
            <a:ext cx="1123690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#2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6740435" y="2838273"/>
            <a:ext cx="803393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#4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7543828" y="2838273"/>
            <a:ext cx="814360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↓ -2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4656413" y="3190103"/>
            <a:ext cx="960332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Type Bâtiment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5616746" y="3190103"/>
            <a:ext cx="1123690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#3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6740435" y="3190103"/>
            <a:ext cx="803393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#5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7543828" y="3190103"/>
            <a:ext cx="814360" cy="351830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F444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↓ -2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4656413" y="3688380"/>
            <a:ext cx="3701774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94A3B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* Le mix énergétique devient crucial pour les émissions de CO₂, surpassant l'âge et le type de bâtiment.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18353"/>
            <a:ext cx="8001000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93400"/>
            <a:ext cx="800100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18353"/>
            <a:ext cx="8001000" cy="38219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L'adaptation au contexte de Lomé est un impératif technique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07712"/>
            <a:ext cx="2000250" cy="43041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CBD5E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Facteur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2571750" y="1207712"/>
            <a:ext cx="2400300" cy="43041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CBD5E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🏙️ Seattle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972050" y="1207712"/>
            <a:ext cx="2400300" cy="43041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🌍 Lomé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7372350" y="1207712"/>
            <a:ext cx="1200150" cy="43041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Impact ML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571500" y="1638123"/>
            <a:ext cx="2000250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Facteur CO₂ réseau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2571750" y="1638123"/>
            <a:ext cx="2400300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~0.05 kgCO₂/kWh (hydro)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972050" y="1638123"/>
            <a:ext cx="2400300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~0.62 kgCO₂/kWh (thermique)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7372350" y="1638123"/>
            <a:ext cx="1200150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×12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71500" y="1959592"/>
            <a:ext cx="20002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Climatisation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2571750" y="1959592"/>
            <a:ext cx="240030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Modérée — saisonnière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972050" y="1959592"/>
            <a:ext cx="240030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Intensive — 80%, toute l'année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7372350" y="1959592"/>
            <a:ext cx="12001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Critique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71500" y="2275703"/>
            <a:ext cx="20002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Groupe Électrogène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2571750" y="2275703"/>
            <a:ext cx="240030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Rare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972050" y="2275703"/>
            <a:ext cx="240030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73% des bâtiments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7372350" y="2275703"/>
            <a:ext cx="12001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Majeur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571500" y="2591814"/>
            <a:ext cx="20002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Gaz Naturel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2571750" y="2591814"/>
            <a:ext cx="240030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72% des bâtiments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972050" y="2591814"/>
            <a:ext cx="240030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4% seulement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7372350" y="2591814"/>
            <a:ext cx="12001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Inversé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571500" y="2907925"/>
            <a:ext cx="20002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Intensité (EUI)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2571750" y="2907925"/>
            <a:ext cx="240030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~92 kWh/m²/an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4972050" y="2907925"/>
            <a:ext cx="240030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~198 kWh/m²/an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7372350" y="2907925"/>
            <a:ext cx="12001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×2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571500" y="3224036"/>
            <a:ext cx="20002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Âge médian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2571750" y="3224036"/>
            <a:ext cx="240030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51 ans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972050" y="3224036"/>
            <a:ext cx="240030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 ans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7372350" y="3224036"/>
            <a:ext cx="12001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Décalé</a:t>
            </a:r>
            <a:endParaRPr lang="en-US" sz="834" dirty="0"/>
          </a:p>
        </p:txBody>
      </p:sp>
      <p:sp>
        <p:nvSpPr>
          <p:cNvPr id="34" name="Shape 31"/>
          <p:cNvSpPr/>
          <p:nvPr/>
        </p:nvSpPr>
        <p:spPr>
          <a:xfrm>
            <a:off x="571500" y="3829469"/>
            <a:ext cx="8001000" cy="56145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571500" y="3829469"/>
            <a:ext cx="800100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" y="3972344"/>
            <a:ext cx="6608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!</a:t>
            </a:r>
            <a:endParaRPr lang="en-US" sz="1704" dirty="0"/>
          </a:p>
        </p:txBody>
      </p:sp>
      <p:sp>
        <p:nvSpPr>
          <p:cNvPr id="37" name="Text 34"/>
          <p:cNvSpPr/>
          <p:nvPr/>
        </p:nvSpPr>
        <p:spPr>
          <a:xfrm>
            <a:off x="780455" y="3972344"/>
            <a:ext cx="779204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 modèle Seattle sous-estime massivement les émissions CO₂ à Lomé (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facteur 12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). Le transfert direct est impossible ; une stratégie de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Domain Adaptation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est indispensable pour garantir la fiabilité des prédictions locales.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618353"/>
            <a:ext cx="7715250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93400"/>
            <a:ext cx="771525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618353"/>
            <a:ext cx="7715250" cy="38219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Stacking et la Vision Produit : Vers une plateforme intelligente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14375" y="1464887"/>
            <a:ext cx="364331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Stratégie de Stacking Hybride</a:t>
            </a:r>
            <a:endParaRPr lang="en-US" sz="1295" dirty="0"/>
          </a:p>
        </p:txBody>
      </p:sp>
      <p:sp>
        <p:nvSpPr>
          <p:cNvPr id="7" name="Text 4"/>
          <p:cNvSpPr/>
          <p:nvPr/>
        </p:nvSpPr>
        <p:spPr>
          <a:xfrm>
            <a:off x="714375" y="1891726"/>
            <a:ext cx="3643313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Utiliser le modèle Seattle comme base de connaissances physiques pour un méta-modèle spécifique à Lomé.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714375" y="2327495"/>
            <a:ext cx="3643313" cy="678656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2327495"/>
            <a:ext cx="3643313" cy="14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814388" y="2413220"/>
            <a:ext cx="3443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X_Lomé + Pred_Seattle +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Features_Spécifiques (Clim, Générateur)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→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Prédiction Finale Lomé</a:t>
            </a:r>
            <a:pPr algn="l" indent="0" marL="0">
              <a:lnSpc>
                <a:spcPts val="1500"/>
              </a:lnSpc>
              <a:buNone/>
            </a:pP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714375" y="3120451"/>
            <a:ext cx="36433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Cette approche permet de conserver les lois physiques universelles tout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corrigeant les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8BD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biais contextuels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(réseau thermique, climat tropical).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786313" y="1464887"/>
            <a:ext cx="364331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Architecture de la Solution</a:t>
            </a:r>
            <a:endParaRPr lang="en-US" sz="129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1932803"/>
            <a:ext cx="171450" cy="171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00638" y="2081733"/>
            <a:ext cx="332898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App Streamlit</a:t>
            </a:r>
            <a:endParaRPr lang="en-US" sz="987" dirty="0"/>
          </a:p>
        </p:txBody>
      </p:sp>
      <p:sp>
        <p:nvSpPr>
          <p:cNvPr id="15" name="Text 11"/>
          <p:cNvSpPr/>
          <p:nvPr/>
        </p:nvSpPr>
        <p:spPr>
          <a:xfrm>
            <a:off x="5100638" y="2387129"/>
            <a:ext cx="33289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Interface métier pour des simulations instantanées et une aide à la décision rapide pour les promoteurs.</a:t>
            </a:r>
            <a:endParaRPr lang="en-US" sz="834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2948248"/>
            <a:ext cx="150019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9206" y="3097178"/>
            <a:ext cx="33504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Plateforme Web</a:t>
            </a:r>
            <a:endParaRPr lang="en-US" sz="987" dirty="0"/>
          </a:p>
        </p:txBody>
      </p:sp>
      <p:sp>
        <p:nvSpPr>
          <p:cNvPr id="18" name="Text 13"/>
          <p:cNvSpPr/>
          <p:nvPr/>
        </p:nvSpPr>
        <p:spPr>
          <a:xfrm>
            <a:off x="5079206" y="3402574"/>
            <a:ext cx="33504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Collecte collaborative de données réelles à Lomé pour enrichir continuellement la base de données.</a:t>
            </a:r>
            <a:endParaRPr lang="en-US" sz="834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3963693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00638" y="4112623"/>
            <a:ext cx="332898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Apprentissage Continu — Modèle Lomé v2</a:t>
            </a:r>
            <a:endParaRPr lang="en-US" sz="987" dirty="0"/>
          </a:p>
        </p:txBody>
      </p:sp>
      <p:sp>
        <p:nvSpPr>
          <p:cNvPr id="21" name="Text 15"/>
          <p:cNvSpPr/>
          <p:nvPr/>
        </p:nvSpPr>
        <p:spPr>
          <a:xfrm>
            <a:off x="5100638" y="4418019"/>
            <a:ext cx="33289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Réentraînement automatique sur les données réelles accumulées pour une précision accrue au fil du temps.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618353"/>
            <a:ext cx="8001000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93400"/>
            <a:ext cx="800100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18353"/>
            <a:ext cx="8001000" cy="38219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Bilan &amp; Perspectives : Mesurer pour agir, Prédire pour économiser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450600"/>
            <a:ext cx="3786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SUCCÈS TECHNIQUES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900656"/>
            <a:ext cx="378618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Précision Énergie (R²)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038173"/>
            <a:ext cx="57685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99.03%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2429294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Précision CO₂ (R²)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2568597"/>
            <a:ext cx="57685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99.53%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71500" y="2959717"/>
            <a:ext cx="378618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Erreur Médiane (MdAPE)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3097234"/>
            <a:ext cx="47684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3.50%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71500" y="3516930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 pipeline ML robuste capable de prédire la performance énergétique sans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capteurs physiques, validé par un audit de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8BD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Leakage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rigoureux.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786313" y="1450600"/>
            <a:ext cx="37861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FEUILLE DE ROUTE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786313" y="1822075"/>
            <a:ext cx="1768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105995" y="1822075"/>
            <a:ext cx="346650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Collecter 20-30 bâtiments réels à Lomé pour la validation finale du MVP.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786313" y="2324984"/>
            <a:ext cx="2000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5129213" y="2324984"/>
            <a:ext cx="334506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Déployer l'application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pour les simulations métier.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786313" y="2696459"/>
            <a:ext cx="1946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5123855" y="2696459"/>
            <a:ext cx="344864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Développer la plateforme web de collecte collaborative de données.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786313" y="3199368"/>
            <a:ext cx="2000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5129213" y="3199368"/>
            <a:ext cx="34432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Réentraîner le modèle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Lomé v2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sur les données réelles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CBD5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accumulées.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571500" y="4282706"/>
            <a:ext cx="80010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4282706"/>
            <a:ext cx="8001000" cy="71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" y="4282706"/>
            <a:ext cx="8001000" cy="410766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i="1" dirty="0">
                <a:solidFill>
                  <a:srgbClr val="F8FAF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"On ne peut améliorer que ce que l'on mesure. EnergiSight apporte la mesure là où elle manquait."</a:t>
            </a:r>
            <a:endParaRPr lang="en-US" sz="115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2026-02-26T06:02:34Z</dcterms:created>
  <dcterms:modified xsi:type="dcterms:W3CDTF">2026-02-26T06:02:34Z</dcterms:modified>
</cp:coreProperties>
</file>