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532083"/>
            <a:ext cx="4143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EnergiSight :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IA &amp; Efficacité 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B981"/>
                </a:solidFill>
              </a:rPr>
              <a:t>Énergétique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3212260"/>
            <a:ext cx="414337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>
                    <a:alpha val="90000"/>
                  </a:srgbClr>
                </a:solidFill>
              </a:rPr>
              <a:t>Vers une souveraineté énergétique pilotée par la donnée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4165950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NADAJAK Moyinib Pierre Damien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4457058"/>
            <a:ext cx="4143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GreenSight Lomé | Programme D-CLIC (OIF) | 2026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572000" y="511392"/>
            <a:ext cx="4572000" cy="4120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511392"/>
            <a:ext cx="28575" cy="41206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5281631" y="1807341"/>
            <a:ext cx="1504931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078" y="1893066"/>
            <a:ext cx="300038" cy="3000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67356" y="2278828"/>
            <a:ext cx="1333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OIF / Programme D-CLIC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6929438" y="1807341"/>
            <a:ext cx="1504931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884" y="1893066"/>
            <a:ext cx="300038" cy="3000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15163" y="2278828"/>
            <a:ext cx="1333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Ministère de l'Énergie (Togo)</a:t>
            </a:r>
            <a:endParaRPr lang="en-US" sz="727" dirty="0"/>
          </a:p>
        </p:txBody>
      </p:sp>
      <p:sp>
        <p:nvSpPr>
          <p:cNvPr id="15" name="Shape 10"/>
          <p:cNvSpPr/>
          <p:nvPr/>
        </p:nvSpPr>
        <p:spPr>
          <a:xfrm>
            <a:off x="5281631" y="2643160"/>
            <a:ext cx="1504931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583" y="2728885"/>
            <a:ext cx="225028" cy="3000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7356" y="3114647"/>
            <a:ext cx="1333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CEET Togo</a:t>
            </a:r>
            <a:endParaRPr lang="en-US" sz="727" dirty="0"/>
          </a:p>
        </p:txBody>
      </p:sp>
      <p:sp>
        <p:nvSpPr>
          <p:cNvPr id="18" name="Shape 12"/>
          <p:cNvSpPr/>
          <p:nvPr/>
        </p:nvSpPr>
        <p:spPr>
          <a:xfrm>
            <a:off x="6929438" y="2643160"/>
            <a:ext cx="1504931" cy="6929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884" y="2728885"/>
            <a:ext cx="300038" cy="3000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15163" y="3114647"/>
            <a:ext cx="1333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Data Science &amp; AI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Contexte : Une Urbanisation sous Pression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49716"/>
            <a:ext cx="3714750" cy="128766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892591"/>
            <a:ext cx="328612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10B981"/>
                </a:solidFill>
              </a:rPr>
              <a:t>&gt; 4% / an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785813" y="2592679"/>
            <a:ext cx="3286125" cy="337542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Croissance urbaine estimée pour le Grand Lomé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180252"/>
            <a:ext cx="3714750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Lomé fait face à une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croissance urbaine rapide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qui devance le développement des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infrastructures.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La planification énergétique souffre d'un </a:t>
            </a:r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manque criant de données granulaires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 sur la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consommation réelle, créant une pression inédite </a:t>
            </a:r>
            <a:pPr algn="l" indent="0" marL="0">
              <a:lnSpc>
                <a:spcPts val="1700"/>
              </a:lnSpc>
              <a:buNone/>
            </a:pPr>
            <a:r>
              <a:rPr lang="en-US" sz="1159" dirty="0">
                <a:solidFill>
                  <a:srgbClr val="334155"/>
                </a:solidFill>
              </a:rPr>
              <a:t>sur le réseau électrique national (CEET).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4572000" y="1749716"/>
            <a:ext cx="4000500" cy="25717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1821154"/>
            <a:ext cx="3843338" cy="2486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4321466"/>
            <a:ext cx="4000500" cy="22145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Projection de la demande électrique (2020-2026)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Le Problème : L'Asymétrie Informationnelle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21154"/>
            <a:ext cx="3857625" cy="21864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21154"/>
            <a:ext cx="3857625" cy="714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3"/>
          <p:cNvSpPr/>
          <p:nvPr/>
        </p:nvSpPr>
        <p:spPr>
          <a:xfrm>
            <a:off x="4414838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993356"/>
            <a:ext cx="385762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106904"/>
            <a:ext cx="300038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0163" y="2122084"/>
            <a:ext cx="210908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</a:rPr>
              <a:t>Seattle (Data Rich)</a:t>
            </a:r>
            <a:endParaRPr lang="en-US" sz="160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04313"/>
            <a:ext cx="171450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5856" y="2778416"/>
            <a:ext cx="2609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Systèmes de télé-relève (Smart Meters)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41855"/>
            <a:ext cx="171450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5856" y="3115959"/>
            <a:ext cx="21147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Open Data &amp; Audits historiques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79397"/>
            <a:ext cx="171450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5856" y="3453501"/>
            <a:ext cx="234744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Données structurées et accessibles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714875" y="1821154"/>
            <a:ext cx="3857625" cy="21864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1"/>
          <p:cNvSpPr/>
          <p:nvPr/>
        </p:nvSpPr>
        <p:spPr>
          <a:xfrm>
            <a:off x="4714875" y="1821154"/>
            <a:ext cx="3857625" cy="7143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2"/>
          <p:cNvSpPr/>
          <p:nvPr/>
        </p:nvSpPr>
        <p:spPr>
          <a:xfrm>
            <a:off x="8558213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3"/>
          <p:cNvSpPr/>
          <p:nvPr/>
        </p:nvSpPr>
        <p:spPr>
          <a:xfrm>
            <a:off x="4714875" y="3993356"/>
            <a:ext cx="385762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4"/>
          <p:cNvSpPr/>
          <p:nvPr/>
        </p:nvSpPr>
        <p:spPr>
          <a:xfrm>
            <a:off x="4714875" y="1821154"/>
            <a:ext cx="14288" cy="218649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106904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2122084"/>
            <a:ext cx="197901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172A"/>
                </a:solidFill>
              </a:rPr>
              <a:t>Lomé (Data Poor)</a:t>
            </a:r>
            <a:endParaRPr lang="en-US" sz="160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804313"/>
            <a:ext cx="171450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79231" y="2778416"/>
            <a:ext cx="23870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Absence d'historique de facturation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141855"/>
            <a:ext cx="171450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79231" y="3115959"/>
            <a:ext cx="21834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Pas de smart meters généralisés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479397"/>
            <a:ext cx="171450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79231" y="3453501"/>
            <a:ext cx="271805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Relevés physiques coûteux et complexes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1064558" y="4293394"/>
            <a:ext cx="7014883" cy="5643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0"/>
          <p:cNvSpPr/>
          <p:nvPr/>
        </p:nvSpPr>
        <p:spPr>
          <a:xfrm>
            <a:off x="1064558" y="4293394"/>
            <a:ext cx="7014883" cy="564356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Comment optimiser ce qu’on ne peut pas mesurer ?</a:t>
            </a:r>
            <a:endParaRPr lang="en-US" sz="180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Objectif : Pallier le Manque de Données par l'IA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706854"/>
            <a:ext cx="8001000" cy="8215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06854"/>
            <a:ext cx="71438" cy="8215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821154"/>
            <a:ext cx="7429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Approche Stratégique : Le Saut Technologique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857250" y="2228348"/>
            <a:ext cx="7429500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8FAFC"/>
                </a:solidFill>
              </a:rPr>
              <a:t>Agir sans attendre l'installation massive de compteurs.</a:t>
            </a:r>
            <a:endParaRPr lang="en-US" sz="1159" dirty="0"/>
          </a:p>
        </p:txBody>
      </p:sp>
      <p:sp>
        <p:nvSpPr>
          <p:cNvPr id="8" name="Shape 5"/>
          <p:cNvSpPr/>
          <p:nvPr/>
        </p:nvSpPr>
        <p:spPr>
          <a:xfrm>
            <a:off x="571500" y="2642685"/>
            <a:ext cx="2609841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06" y="274269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7601" y="3299910"/>
            <a:ext cx="19576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Intelligence Artificielle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85813" y="3605306"/>
            <a:ext cx="2181216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Transformer les données urbaines en estimations de consommation.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267066" y="2642685"/>
            <a:ext cx="2609841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72" y="274269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10828" y="3299910"/>
            <a:ext cx="15223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Transfer Learning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481378" y="3605306"/>
            <a:ext cx="2181216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Appliquer l'apprentissage depuis villes bien documentées vers Lomé.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5962631" y="2642685"/>
            <a:ext cx="2609869" cy="154840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66" y="274269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18309" y="3299910"/>
            <a:ext cx="149848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Aide à la Décision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176944" y="3605306"/>
            <a:ext cx="2181244" cy="47148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Fournir un outil opérationnel pour la planification urbaine.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571500" y="439111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Résultat : Un 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outil d'aide à la décision</a:t>
            </a:r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 pour la gouvernance climatique.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L'Écosystème de Données : Global vs Local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606841"/>
            <a:ext cx="3131809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76668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0131" y="1764004"/>
            <a:ext cx="15583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Seattle Open Data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14375" y="2178341"/>
            <a:ext cx="9345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L'Intelligence :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857250" y="2419443"/>
            <a:ext cx="27031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3 376 bâtiments non résidentiels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857250" y="2612324"/>
            <a:ext cx="27031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Variables : Surface, Émissions, Usage, Énergie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857250" y="2998087"/>
            <a:ext cx="27031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Lois physiques de consommation</a:t>
            </a:r>
            <a:endParaRPr lang="en-US" sz="942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816" y="2121191"/>
            <a:ext cx="214313" cy="3429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72" y="2535529"/>
            <a:ext cx="457200" cy="4572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16" y="2992729"/>
            <a:ext cx="214313" cy="3429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40663" y="1606841"/>
            <a:ext cx="3131837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538" y="1752395"/>
            <a:ext cx="257175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47870" y="1749716"/>
            <a:ext cx="20469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OpenStreetMap &amp; RGPH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5583538" y="2164054"/>
            <a:ext cx="11843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Le Terrain (Lomé) :</a:t>
            </a:r>
            <a:endParaRPr lang="en-US" sz="885" dirty="0"/>
          </a:p>
        </p:txBody>
      </p:sp>
      <p:sp>
        <p:nvSpPr>
          <p:cNvPr id="18" name="Text 10"/>
          <p:cNvSpPr/>
          <p:nvPr/>
        </p:nvSpPr>
        <p:spPr>
          <a:xfrm>
            <a:off x="5726413" y="2405156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~1.5M structures identifiées</a:t>
            </a:r>
            <a:endParaRPr lang="en-US" sz="942" dirty="0"/>
          </a:p>
        </p:txBody>
      </p:sp>
      <p:sp>
        <p:nvSpPr>
          <p:cNvPr id="19" name="Text 11"/>
          <p:cNvSpPr/>
          <p:nvPr/>
        </p:nvSpPr>
        <p:spPr>
          <a:xfrm>
            <a:off x="5726413" y="2598037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Empreinte au sol (m²)</a:t>
            </a:r>
            <a:endParaRPr lang="en-US" sz="942" dirty="0"/>
          </a:p>
        </p:txBody>
      </p:sp>
      <p:sp>
        <p:nvSpPr>
          <p:cNvPr id="20" name="Text 12"/>
          <p:cNvSpPr/>
          <p:nvPr/>
        </p:nvSpPr>
        <p:spPr>
          <a:xfrm>
            <a:off x="5726413" y="2790918"/>
            <a:ext cx="2703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Matériaux (Banco/Béton)</a:t>
            </a:r>
            <a:endParaRPr lang="en-US" sz="942" dirty="0"/>
          </a:p>
        </p:txBody>
      </p:sp>
      <p:sp>
        <p:nvSpPr>
          <p:cNvPr id="21" name="Shape 13"/>
          <p:cNvSpPr/>
          <p:nvPr/>
        </p:nvSpPr>
        <p:spPr>
          <a:xfrm>
            <a:off x="571500" y="4050004"/>
            <a:ext cx="8001000" cy="72687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14"/>
          <p:cNvSpPr/>
          <p:nvPr/>
        </p:nvSpPr>
        <p:spPr>
          <a:xfrm>
            <a:off x="785813" y="4328610"/>
            <a:ext cx="22201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Modèle EnergiSight</a:t>
            </a:r>
            <a:endParaRPr lang="en-US" sz="1602" dirty="0"/>
          </a:p>
        </p:txBody>
      </p:sp>
      <p:sp>
        <p:nvSpPr>
          <p:cNvPr id="23" name="Text 15"/>
          <p:cNvSpPr/>
          <p:nvPr/>
        </p:nvSpPr>
        <p:spPr>
          <a:xfrm>
            <a:off x="3010309" y="4192879"/>
            <a:ext cx="500062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Fusion de l'intelligence globale et des spécificités locales pour une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estimation précise de la consommation &amp; du CO₂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 à l'échelle du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bâtiment.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5260" y="431343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Méthodologie : Le Transfert d'Apprentissage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01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91" y="268376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115" y="3376706"/>
            <a:ext cx="1117522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Nettoyage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28625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Suppression des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outliers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et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des variables non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transférables entre les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domaines.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8" y="3242118"/>
            <a:ext cx="142875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36031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536031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8"/>
          <p:cNvSpPr/>
          <p:nvPr/>
        </p:nvSpPr>
        <p:spPr>
          <a:xfrm>
            <a:off x="2536031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02</a:t>
            </a:r>
            <a:endParaRPr lang="en-US" sz="1193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697" y="268376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68008" y="3376706"/>
            <a:ext cx="1500550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Harmonisation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2536031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Réduction à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4 variables universelles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: Surface, Étages,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Usage et Qualité.</a:t>
            </a:r>
            <a:endParaRPr lang="en-US" sz="83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3242118"/>
            <a:ext cx="142875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43438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643438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3"/>
          <p:cNvSpPr/>
          <p:nvPr/>
        </p:nvSpPr>
        <p:spPr>
          <a:xfrm>
            <a:off x="4643438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03</a:t>
            </a:r>
            <a:endParaRPr lang="en-US" sz="119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103" y="2683762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51416" y="3376706"/>
            <a:ext cx="1548547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Transformation</a:t>
            </a:r>
            <a:endParaRPr lang="en-US" sz="1193" dirty="0"/>
          </a:p>
        </p:txBody>
      </p:sp>
      <p:sp>
        <p:nvSpPr>
          <p:cNvPr id="23" name="Text 15"/>
          <p:cNvSpPr/>
          <p:nvPr/>
        </p:nvSpPr>
        <p:spPr>
          <a:xfrm>
            <a:off x="4643438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Application du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Log-Transform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(ln(1+y)) pour corriger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l'asymétrie des données.</a:t>
            </a:r>
            <a:endParaRPr lang="en-US" sz="8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242118"/>
            <a:ext cx="142875" cy="2286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750844" y="2035466"/>
            <a:ext cx="1964531" cy="264726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750844" y="2035466"/>
            <a:ext cx="1964531" cy="3768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18"/>
          <p:cNvSpPr/>
          <p:nvPr/>
        </p:nvSpPr>
        <p:spPr>
          <a:xfrm>
            <a:off x="6750844" y="2035466"/>
            <a:ext cx="1964531" cy="37683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04</a:t>
            </a:r>
            <a:endParaRPr lang="en-US" sz="1193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509" y="2683762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33915" y="3376706"/>
            <a:ext cx="1398361" cy="233958"/>
          </a:xfrm>
          <a:prstGeom prst="rect">
            <a:avLst/>
          </a:prstGeom>
          <a:noFill/>
          <a:ln/>
        </p:spPr>
        <p:txBody>
          <a:bodyPr wrap="none" lIns="127508" tIns="0" rIns="127508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Entraînement</a:t>
            </a:r>
            <a:endParaRPr lang="en-US" sz="1193" dirty="0"/>
          </a:p>
        </p:txBody>
      </p:sp>
      <p:sp>
        <p:nvSpPr>
          <p:cNvPr id="30" name="Text 20"/>
          <p:cNvSpPr/>
          <p:nvPr/>
        </p:nvSpPr>
        <p:spPr>
          <a:xfrm>
            <a:off x="6750844" y="3753538"/>
            <a:ext cx="1964531" cy="514350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Algorithme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XGBoost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entraîné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sur le domaine source pour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apprendre les lois physiques.</a:t>
            </a:r>
            <a:endParaRPr lang="en-US" sz="834" dirty="0"/>
          </a:p>
        </p:txBody>
      </p:sp>
      <p:sp>
        <p:nvSpPr>
          <p:cNvPr id="31" name="Shape 21"/>
          <p:cNvSpPr/>
          <p:nvPr/>
        </p:nvSpPr>
        <p:spPr>
          <a:xfrm>
            <a:off x="0" y="4682728"/>
            <a:ext cx="9144000" cy="4607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22"/>
          <p:cNvSpPr/>
          <p:nvPr/>
        </p:nvSpPr>
        <p:spPr>
          <a:xfrm>
            <a:off x="0" y="4682728"/>
            <a:ext cx="9144000" cy="460772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Apprendre les lois physiques à 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Seattle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pour les appliquer à </a:t>
            </a:r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Lomé</a:t>
            </a:r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27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89511"/>
            <a:ext cx="8572500" cy="85725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F172A"/>
                </a:solidFill>
              </a:rPr>
              <a:t>Le Moteur Algorithmique : XGBoost &amp; Feature Engineering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571500" y="2164835"/>
            <a:ext cx="2828925" cy="10876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2379148"/>
            <a:ext cx="24003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XGBoost Regressor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785813" y="2723834"/>
            <a:ext cx="2400300" cy="528638"/>
          </a:xfrm>
          <a:prstGeom prst="rect">
            <a:avLst/>
          </a:prstGeom>
          <a:noFill/>
          <a:ln/>
        </p:spPr>
        <p:txBody>
          <a:bodyPr wrap="square" lIns="0" tIns="0" rIns="0" bIns="21259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Extreme Gradient Boosting pour une précision optimale.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71500" y="3395346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9" y="3481071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3395346"/>
            <a:ext cx="14316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PropertyGFATotal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000125" y="3590013"/>
            <a:ext cx="14316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Surface totale du bâtiment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571500" y="3859690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945415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0125" y="3859690"/>
            <a:ext cx="1462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NumberOfFloors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1000125" y="4054357"/>
            <a:ext cx="1462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Hauteur (Nombre d'étages)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4324034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4409759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4324034"/>
            <a:ext cx="17203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PrimaryPropertyType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000125" y="4518701"/>
            <a:ext cx="17203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Usage (Bureau, Commerce, etc.)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71500" y="4788377"/>
            <a:ext cx="285750" cy="28575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4874102"/>
            <a:ext cx="71438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0125" y="4788377"/>
            <a:ext cx="1612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BuildingQuality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1000125" y="4983045"/>
            <a:ext cx="1612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Indice thermique &amp; Matériaux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3686175" y="2164835"/>
            <a:ext cx="2371725" cy="228778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807619" y="2271992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Distribution Originale (Skew: 12.99)</a:t>
            </a:r>
            <a:endParaRPr lang="en-US" sz="683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619" y="2479160"/>
            <a:ext cx="2143125" cy="150018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200775" y="2164835"/>
            <a:ext cx="2371725" cy="2287786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322219" y="2271992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Log-Transform (Skew: -3.78)</a:t>
            </a:r>
            <a:endParaRPr lang="en-US" sz="683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2219" y="2479160"/>
            <a:ext cx="2143125" cy="1500188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3714750" y="4595496"/>
            <a:ext cx="4857750" cy="6572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1"/>
          <p:cNvSpPr/>
          <p:nvPr/>
        </p:nvSpPr>
        <p:spPr>
          <a:xfrm>
            <a:off x="3714750" y="4595496"/>
            <a:ext cx="28575" cy="6572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2"/>
          <p:cNvSpPr/>
          <p:nvPr/>
        </p:nvSpPr>
        <p:spPr>
          <a:xfrm>
            <a:off x="3714750" y="4595496"/>
            <a:ext cx="4857750" cy="657225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Observation 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 La transformation logarithmique réduit l'asymétrie des données de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consommation, permettant au modèle XGBoost de mieux capturer la signature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énergétique basée sur la morphologie.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9322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Résultats Expérimentaux : Une Précision Confirmée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072971"/>
            <a:ext cx="632027" cy="85725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587322" y="2229241"/>
            <a:ext cx="60038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0.91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641291" y="2638220"/>
            <a:ext cx="492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8FAFC"/>
                </a:solidFill>
              </a:rPr>
              <a:t>R² Score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1346402" y="2267638"/>
            <a:ext cx="1051973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Émissions de CO₂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2569825" y="2072971"/>
            <a:ext cx="617376" cy="85725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2578308" y="2229241"/>
            <a:ext cx="60038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0.84</a:t>
            </a:r>
            <a:endParaRPr lang="en-US" sz="2121" dirty="0"/>
          </a:p>
        </p:txBody>
      </p:sp>
      <p:sp>
        <p:nvSpPr>
          <p:cNvPr id="10" name="Text 7"/>
          <p:cNvSpPr/>
          <p:nvPr/>
        </p:nvSpPr>
        <p:spPr>
          <a:xfrm>
            <a:off x="2632304" y="2638220"/>
            <a:ext cx="4924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8FAFC"/>
                </a:solidFill>
              </a:rPr>
              <a:t>R² Score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3330076" y="2267638"/>
            <a:ext cx="1518912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Consommation d'Énergie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571500" y="3015946"/>
            <a:ext cx="3943350" cy="101977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015946"/>
            <a:ext cx="394335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30246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172A"/>
                </a:solidFill>
              </a:rPr>
              <a:t>Observation :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685800" y="3342773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Le modèle capture parfaitement la signature énergétique basée sur la morphologie du bâtiment, validant l'efficacité du Transfer Learning.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020438" y="2072971"/>
            <a:ext cx="25337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Confrontation Réel vs Prédiction (Échelle Log)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020438" y="2314073"/>
            <a:ext cx="5966817" cy="19573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163" y="2399798"/>
            <a:ext cx="5595342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9322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Calibration Lomé : Adaptation aux Matériaux Locaux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15217"/>
            <a:ext cx="3518297" cy="2571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4694086"/>
            <a:ext cx="35199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Source : RGPH 2022 (5ème Recensement National)</a:t>
            </a:r>
            <a:endParaRPr lang="en-US" sz="727" dirty="0"/>
          </a:p>
        </p:txBody>
      </p:sp>
      <p:sp>
        <p:nvSpPr>
          <p:cNvPr id="6" name="Shape 2"/>
          <p:cNvSpPr/>
          <p:nvPr/>
        </p:nvSpPr>
        <p:spPr>
          <a:xfrm>
            <a:off x="4348590" y="2233064"/>
            <a:ext cx="4223910" cy="698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348590" y="2233064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8565356" y="2233064"/>
            <a:ext cx="7144" cy="6983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5"/>
          <p:cNvSpPr/>
          <p:nvPr/>
        </p:nvSpPr>
        <p:spPr>
          <a:xfrm>
            <a:off x="4348590" y="2924222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6"/>
          <p:cNvSpPr/>
          <p:nvPr/>
        </p:nvSpPr>
        <p:spPr>
          <a:xfrm>
            <a:off x="4348590" y="2233064"/>
            <a:ext cx="42863" cy="698302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706" y="2510777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421" y="2325932"/>
            <a:ext cx="35102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Traditionnel (42%)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4919421" y="2520600"/>
            <a:ext cx="3510204" cy="403622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Banco, Terre.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Meilleure inertie thermique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, besoin réduit en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climatisation.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348590" y="3009947"/>
            <a:ext cx="422391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348590" y="3009947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1"/>
          <p:cNvSpPr/>
          <p:nvPr/>
        </p:nvSpPr>
        <p:spPr>
          <a:xfrm>
            <a:off x="8565356" y="3009947"/>
            <a:ext cx="7144" cy="5429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2"/>
          <p:cNvSpPr/>
          <p:nvPr/>
        </p:nvSpPr>
        <p:spPr>
          <a:xfrm>
            <a:off x="4348590" y="3545728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8590" y="3009947"/>
            <a:ext cx="42863" cy="542925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184" y="3209972"/>
            <a:ext cx="28575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62953" y="3102815"/>
            <a:ext cx="34666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Semi-moderne (31%)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4962953" y="3297482"/>
            <a:ext cx="3466672" cy="248245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Parpaing, Tôle. Performance thermique intermédiaire.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4348590" y="3631453"/>
            <a:ext cx="4223910" cy="698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348590" y="3631453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18"/>
          <p:cNvSpPr/>
          <p:nvPr/>
        </p:nvSpPr>
        <p:spPr>
          <a:xfrm>
            <a:off x="8565356" y="3631453"/>
            <a:ext cx="7144" cy="6983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19"/>
          <p:cNvSpPr/>
          <p:nvPr/>
        </p:nvSpPr>
        <p:spPr>
          <a:xfrm>
            <a:off x="4348590" y="4322611"/>
            <a:ext cx="422391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0"/>
          <p:cNvSpPr/>
          <p:nvPr/>
        </p:nvSpPr>
        <p:spPr>
          <a:xfrm>
            <a:off x="4348590" y="3631453"/>
            <a:ext cx="42863" cy="6983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316" y="3909166"/>
            <a:ext cx="28575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11244" y="3724322"/>
            <a:ext cx="35183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Moderne (27%)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4911244" y="3918989"/>
            <a:ext cx="3518381" cy="403622"/>
          </a:xfrm>
          <a:prstGeom prst="rect">
            <a:avLst/>
          </a:prstGeom>
          <a:noFill/>
          <a:ln/>
        </p:spPr>
        <p:txBody>
          <a:bodyPr wrap="square" lIns="0" tIns="42545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Béton, Verre.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75569"/>
                </a:solidFill>
              </a:rPr>
              <a:t>Forte consommation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 due à l'usage intensif de la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75569"/>
                </a:solidFill>
              </a:rPr>
              <a:t>climatisation.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4348590" y="4465486"/>
            <a:ext cx="4223910" cy="48220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4"/>
          <p:cNvSpPr/>
          <p:nvPr/>
        </p:nvSpPr>
        <p:spPr>
          <a:xfrm>
            <a:off x="4348590" y="4465486"/>
            <a:ext cx="4223910" cy="482203"/>
          </a:xfrm>
          <a:prstGeom prst="rect">
            <a:avLst/>
          </a:prstGeom>
          <a:noFill/>
          <a:ln/>
        </p:spPr>
        <p:txBody>
          <a:bodyPr wrap="square" lIns="212598" tIns="102108" rIns="21259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Ajustement 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 La variable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'BuildingQuality'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 modère la prédiction du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8FAFC"/>
                </a:solidFill>
              </a:rPr>
              <a:t>modèle source pour refléter l'inertie thermique des matériaux locaux.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Architecture Technique &amp; Déploiement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924989"/>
            <a:ext cx="3028950" cy="7286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4375" y="2075008"/>
            <a:ext cx="428625" cy="4286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2175021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2104476"/>
            <a:ext cx="14209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4748B"/>
                </a:solidFill>
              </a:rPr>
              <a:t>Backend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1321594" y="2240207"/>
            <a:ext cx="14209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Python / FastAPI</a:t>
            </a:r>
            <a:endParaRPr lang="en-US" sz="1193" dirty="0"/>
          </a:p>
        </p:txBody>
      </p:sp>
      <p:sp>
        <p:nvSpPr>
          <p:cNvPr id="9" name="Shape 5"/>
          <p:cNvSpPr/>
          <p:nvPr/>
        </p:nvSpPr>
        <p:spPr>
          <a:xfrm>
            <a:off x="571500" y="2932258"/>
            <a:ext cx="3028950" cy="7286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375" y="3082277"/>
            <a:ext cx="428625" cy="4286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182289"/>
            <a:ext cx="25717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1594" y="3111745"/>
            <a:ext cx="79555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4748B"/>
                </a:solidFill>
              </a:rPr>
              <a:t>Frontend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1321594" y="3247476"/>
            <a:ext cx="7955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Streamlit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571500" y="3939527"/>
            <a:ext cx="3028950" cy="7286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14375" y="4089546"/>
            <a:ext cx="428625" cy="4286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4189558"/>
            <a:ext cx="20002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1594" y="4119014"/>
            <a:ext cx="6587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64748B"/>
                </a:solidFill>
              </a:rPr>
              <a:t>Database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1321594" y="4254745"/>
            <a:ext cx="6587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PostGIS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4029075" y="2169133"/>
            <a:ext cx="4543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172A"/>
                </a:solidFill>
              </a:rPr>
              <a:t>Flux de Travail Opérationnel</a:t>
            </a:r>
            <a:endParaRPr lang="en-US" sz="1397" dirty="0"/>
          </a:p>
        </p:txBody>
      </p:sp>
      <p:sp>
        <p:nvSpPr>
          <p:cNvPr id="20" name="Shape 14"/>
          <p:cNvSpPr/>
          <p:nvPr/>
        </p:nvSpPr>
        <p:spPr>
          <a:xfrm>
            <a:off x="4424828" y="2656694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5"/>
          <p:cNvSpPr/>
          <p:nvPr/>
        </p:nvSpPr>
        <p:spPr>
          <a:xfrm>
            <a:off x="4424828" y="265669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1</a:t>
            </a:r>
            <a:endParaRPr lang="en-US" sz="1602" dirty="0"/>
          </a:p>
        </p:txBody>
      </p:sp>
      <p:sp>
        <p:nvSpPr>
          <p:cNvPr id="22" name="Text 16"/>
          <p:cNvSpPr/>
          <p:nvPr/>
        </p:nvSpPr>
        <p:spPr>
          <a:xfrm>
            <a:off x="4029075" y="3371069"/>
            <a:ext cx="136300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Saisie des Coordonnées</a:t>
            </a:r>
            <a:endParaRPr lang="en-US" sz="885" dirty="0"/>
          </a:p>
        </p:txBody>
      </p:sp>
      <p:sp>
        <p:nvSpPr>
          <p:cNvPr id="23" name="Shape 17"/>
          <p:cNvSpPr/>
          <p:nvPr/>
        </p:nvSpPr>
        <p:spPr>
          <a:xfrm>
            <a:off x="6015038" y="2656694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18"/>
          <p:cNvSpPr/>
          <p:nvPr/>
        </p:nvSpPr>
        <p:spPr>
          <a:xfrm>
            <a:off x="6015038" y="265669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2</a:t>
            </a:r>
            <a:endParaRPr lang="en-US" sz="1602" dirty="0"/>
          </a:p>
        </p:txBody>
      </p:sp>
      <p:sp>
        <p:nvSpPr>
          <p:cNvPr id="25" name="Text 19"/>
          <p:cNvSpPr/>
          <p:nvPr/>
        </p:nvSpPr>
        <p:spPr>
          <a:xfrm>
            <a:off x="5619285" y="3371069"/>
            <a:ext cx="136300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Injection Données RGPH</a:t>
            </a:r>
            <a:endParaRPr lang="en-US" sz="885" dirty="0"/>
          </a:p>
        </p:txBody>
      </p:sp>
      <p:sp>
        <p:nvSpPr>
          <p:cNvPr id="26" name="Shape 20"/>
          <p:cNvSpPr/>
          <p:nvPr/>
        </p:nvSpPr>
        <p:spPr>
          <a:xfrm>
            <a:off x="7605247" y="2656694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1"/>
          <p:cNvSpPr/>
          <p:nvPr/>
        </p:nvSpPr>
        <p:spPr>
          <a:xfrm>
            <a:off x="7605247" y="265669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3</a:t>
            </a:r>
            <a:endParaRPr lang="en-US" sz="1602" dirty="0"/>
          </a:p>
        </p:txBody>
      </p:sp>
      <p:sp>
        <p:nvSpPr>
          <p:cNvPr id="28" name="Text 22"/>
          <p:cNvSpPr/>
          <p:nvPr/>
        </p:nvSpPr>
        <p:spPr>
          <a:xfrm>
            <a:off x="7209495" y="3371069"/>
            <a:ext cx="136300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Estimation Coût &amp; CO₂</a:t>
            </a:r>
            <a:endParaRPr lang="en-US" sz="885" dirty="0"/>
          </a:p>
        </p:txBody>
      </p:sp>
      <p:sp>
        <p:nvSpPr>
          <p:cNvPr id="29" name="Shape 23"/>
          <p:cNvSpPr/>
          <p:nvPr/>
        </p:nvSpPr>
        <p:spPr>
          <a:xfrm>
            <a:off x="4029075" y="4088290"/>
            <a:ext cx="4543425" cy="6357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4"/>
          <p:cNvSpPr/>
          <p:nvPr/>
        </p:nvSpPr>
        <p:spPr>
          <a:xfrm>
            <a:off x="4029075" y="4088290"/>
            <a:ext cx="42863" cy="63579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5"/>
          <p:cNvSpPr/>
          <p:nvPr/>
        </p:nvSpPr>
        <p:spPr>
          <a:xfrm>
            <a:off x="4029075" y="4088290"/>
            <a:ext cx="4543425" cy="635794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L'architecture est conçue pour être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scalable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et </a:t>
            </a:r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interopérable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 avec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FAFC"/>
                </a:solidFill>
              </a:rPr>
              <a:t>les systèmes d'information géographique (SIG) municipaux.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5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Roadmap : Vers l'Industrialisation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035466"/>
            <a:ext cx="2524116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2035466"/>
            <a:ext cx="2524116" cy="7304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2178341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Phase 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714375" y="2389082"/>
            <a:ext cx="22383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Calibration</a:t>
            </a:r>
            <a:endParaRPr lang="en-US" sz="119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003445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764" y="2980227"/>
            <a:ext cx="779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Court Terme</a:t>
            </a:r>
            <a:endParaRPr lang="en-US" sz="88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326699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50" y="329812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Collecte de factures (50-200 bâtiments)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793889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550" y="376531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Validation terrain des prédictions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261079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71550" y="423250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Ajustement des coefficients locaux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571500" y="4721126"/>
            <a:ext cx="2524116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2094" y="4906863"/>
            <a:ext cx="342900" cy="3429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309928" y="2035466"/>
            <a:ext cx="2524116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3309928" y="2035466"/>
            <a:ext cx="2524116" cy="730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2"/>
          <p:cNvSpPr/>
          <p:nvPr/>
        </p:nvSpPr>
        <p:spPr>
          <a:xfrm>
            <a:off x="3452803" y="2178341"/>
            <a:ext cx="22383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0F172A"/>
                </a:solidFill>
              </a:rPr>
              <a:t>Phase 2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3452803" y="2389082"/>
            <a:ext cx="22383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Prototype SaaS</a:t>
            </a:r>
            <a:endParaRPr lang="en-US" sz="119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1" y="3003445"/>
            <a:ext cx="112514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8192" y="2980227"/>
            <a:ext cx="8509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Moyen Terme</a:t>
            </a:r>
            <a:endParaRPr lang="en-US" sz="88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326699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709978" y="329812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Déploiement Web App (Streamlit)</a:t>
            </a:r>
            <a:endParaRPr lang="en-US" sz="942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3793889"/>
            <a:ext cx="100013" cy="1000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09978" y="376531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Intégration des données cadastrales</a:t>
            </a:r>
            <a:endParaRPr lang="en-US" sz="942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41" y="4261079"/>
            <a:ext cx="100013" cy="100013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709978" y="4232504"/>
            <a:ext cx="190975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Dashboard pour les municipalités</a:t>
            </a:r>
            <a:endParaRPr lang="en-US" sz="942" dirty="0"/>
          </a:p>
        </p:txBody>
      </p:sp>
      <p:sp>
        <p:nvSpPr>
          <p:cNvPr id="30" name="Shape 18"/>
          <p:cNvSpPr/>
          <p:nvPr/>
        </p:nvSpPr>
        <p:spPr>
          <a:xfrm>
            <a:off x="3309928" y="4721126"/>
            <a:ext cx="2524116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7660" y="4906863"/>
            <a:ext cx="428625" cy="342900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6048356" y="2035466"/>
            <a:ext cx="2524144" cy="340003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Shape 20"/>
          <p:cNvSpPr/>
          <p:nvPr/>
        </p:nvSpPr>
        <p:spPr>
          <a:xfrm>
            <a:off x="6048356" y="2035466"/>
            <a:ext cx="2524144" cy="7304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21"/>
          <p:cNvSpPr/>
          <p:nvPr/>
        </p:nvSpPr>
        <p:spPr>
          <a:xfrm>
            <a:off x="6191231" y="2178341"/>
            <a:ext cx="22383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Phase 3</a:t>
            </a:r>
            <a:endParaRPr lang="en-US" sz="885" dirty="0"/>
          </a:p>
        </p:txBody>
      </p:sp>
      <p:sp>
        <p:nvSpPr>
          <p:cNvPr id="35" name="Text 22"/>
          <p:cNvSpPr/>
          <p:nvPr/>
        </p:nvSpPr>
        <p:spPr>
          <a:xfrm>
            <a:off x="6191231" y="2389082"/>
            <a:ext cx="22383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Industrialisation</a:t>
            </a:r>
            <a:endParaRPr lang="en-US" sz="1193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3003445"/>
            <a:ext cx="112514" cy="12858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446620" y="2980227"/>
            <a:ext cx="740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Long Terme</a:t>
            </a:r>
            <a:endParaRPr lang="en-US" sz="885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2669" y="3326699"/>
            <a:ext cx="100013" cy="10001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448406" y="329812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API connectée en temps réel à la CEET</a:t>
            </a:r>
            <a:endParaRPr lang="en-US" sz="942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2669" y="3793889"/>
            <a:ext cx="100013" cy="100013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448406" y="376531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Monitoring municipal automatisé</a:t>
            </a:r>
            <a:endParaRPr lang="en-US" sz="942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2669" y="4261079"/>
            <a:ext cx="100013" cy="100013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448406" y="4232504"/>
            <a:ext cx="19097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Extension à d'autres villes du Togo</a:t>
            </a:r>
            <a:endParaRPr lang="en-US" sz="942" dirty="0"/>
          </a:p>
        </p:txBody>
      </p:sp>
      <p:sp>
        <p:nvSpPr>
          <p:cNvPr id="44" name="Shape 27"/>
          <p:cNvSpPr/>
          <p:nvPr/>
        </p:nvSpPr>
        <p:spPr>
          <a:xfrm>
            <a:off x="6048356" y="4706838"/>
            <a:ext cx="2524144" cy="7143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7547" y="4892576"/>
            <a:ext cx="385763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Modèle Économique &amp; Impact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92591"/>
            <a:ext cx="2524116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892591"/>
            <a:ext cx="2524116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92591"/>
            <a:ext cx="2524116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Clients Cibles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94" y="2683762"/>
            <a:ext cx="5715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15" y="3522427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5440" y="3483862"/>
            <a:ext cx="16562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Municipalités (Planification)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49" y="3842445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4374" y="3803879"/>
            <a:ext cx="147839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Promoteurs Immobiliers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86" y="4162462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4111" y="4123897"/>
            <a:ext cx="1398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Banques (Green Loans)</a:t>
            </a:r>
            <a:endParaRPr lang="en-US" sz="942" dirty="0"/>
          </a:p>
        </p:txBody>
      </p:sp>
      <p:sp>
        <p:nvSpPr>
          <p:cNvPr id="14" name="Shape 7"/>
          <p:cNvSpPr/>
          <p:nvPr/>
        </p:nvSpPr>
        <p:spPr>
          <a:xfrm>
            <a:off x="3309928" y="1892591"/>
            <a:ext cx="2524116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309928" y="1892591"/>
            <a:ext cx="2524116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9"/>
          <p:cNvSpPr/>
          <p:nvPr/>
        </p:nvSpPr>
        <p:spPr>
          <a:xfrm>
            <a:off x="3309928" y="1892591"/>
            <a:ext cx="2524116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Sources de Revenus</a:t>
            </a:r>
            <a:endParaRPr lang="en-US" sz="1193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4797" y="2683762"/>
            <a:ext cx="514350" cy="45720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3768" y="3522427"/>
            <a:ext cx="128588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003793" y="3483862"/>
            <a:ext cx="133641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B2G (Contrats Publics)</a:t>
            </a:r>
            <a:endParaRPr lang="en-US" sz="942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0093" y="3842445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850118" y="3803879"/>
            <a:ext cx="164376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SaaS (Abonnements Privés)</a:t>
            </a:r>
            <a:endParaRPr lang="en-US" sz="942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5099" y="4162462"/>
            <a:ext cx="128588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985124" y="4123897"/>
            <a:ext cx="137372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Audits Énergétiques IA</a:t>
            </a:r>
            <a:endParaRPr lang="en-US" sz="942" dirty="0"/>
          </a:p>
        </p:txBody>
      </p:sp>
      <p:sp>
        <p:nvSpPr>
          <p:cNvPr id="24" name="Shape 13"/>
          <p:cNvSpPr/>
          <p:nvPr/>
        </p:nvSpPr>
        <p:spPr>
          <a:xfrm>
            <a:off x="6048356" y="1892591"/>
            <a:ext cx="2524144" cy="24847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>
            <a:off x="6048356" y="1892591"/>
            <a:ext cx="2524144" cy="5197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15"/>
          <p:cNvSpPr/>
          <p:nvPr/>
        </p:nvSpPr>
        <p:spPr>
          <a:xfrm>
            <a:off x="6048356" y="1892591"/>
            <a:ext cx="2524144" cy="519708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Proposition de Valeur</a:t>
            </a:r>
            <a:endParaRPr lang="en-US" sz="1193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1828" y="2683762"/>
            <a:ext cx="457200" cy="457200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8755" y="3522427"/>
            <a:ext cx="128588" cy="1285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578780" y="3483862"/>
            <a:ext cx="16632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Réduction des coûts d'audit</a:t>
            </a:r>
            <a:endParaRPr lang="en-US" sz="942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3264" y="3842445"/>
            <a:ext cx="128588" cy="128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623289" y="3803879"/>
            <a:ext cx="157430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Conformité réglementaire</a:t>
            </a:r>
            <a:endParaRPr lang="en-US" sz="942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2750" y="4162462"/>
            <a:ext cx="128588" cy="12858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02775" y="4123897"/>
            <a:ext cx="121530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</a:rPr>
              <a:t>Rapidité d'exécution</a:t>
            </a:r>
            <a:endParaRPr lang="en-US" sz="942" dirty="0"/>
          </a:p>
        </p:txBody>
      </p:sp>
      <p:sp>
        <p:nvSpPr>
          <p:cNvPr id="34" name="Shape 19"/>
          <p:cNvSpPr/>
          <p:nvPr/>
        </p:nvSpPr>
        <p:spPr>
          <a:xfrm>
            <a:off x="0" y="4663083"/>
            <a:ext cx="9144000" cy="48041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20"/>
          <p:cNvSpPr/>
          <p:nvPr/>
        </p:nvSpPr>
        <p:spPr>
          <a:xfrm>
            <a:off x="0" y="4663083"/>
            <a:ext cx="9144000" cy="480417"/>
          </a:xfrm>
          <a:prstGeom prst="rect">
            <a:avLst/>
          </a:prstGeom>
          <a:noFill/>
          <a:ln/>
        </p:spPr>
        <p:txBody>
          <a:bodyPr wrap="square" lIns="680339" tIns="170053" rIns="680339" bIns="170053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Transformer les données en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valeur économique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 et en 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impact climatique</a:t>
            </a:r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 mesurable.</a:t>
            </a:r>
            <a:endParaRPr lang="en-US" sz="98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Partenariats Stratégiques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21154"/>
            <a:ext cx="3786188" cy="5536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4748B"/>
                </a:solidFill>
              </a:rPr>
              <a:t>Support Institutionnel &amp; Financement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2503382"/>
            <a:ext cx="3786188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503382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4"/>
          <p:cNvSpPr/>
          <p:nvPr/>
        </p:nvSpPr>
        <p:spPr>
          <a:xfrm>
            <a:off x="4350544" y="2503382"/>
            <a:ext cx="7144" cy="10340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530296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503382"/>
            <a:ext cx="42863" cy="103405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700088" y="2784667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2898967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0163" y="2631970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OIF / Programme D-CLIC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1300163" y="2882001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Partenaire Financier &amp; Capacitation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1300163" y="3094527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Soutien au développement des compétences numériques et financement de l'innovation.</a:t>
            </a:r>
            <a:endParaRPr lang="en-US" sz="780" dirty="0"/>
          </a:p>
        </p:txBody>
      </p:sp>
      <p:sp>
        <p:nvSpPr>
          <p:cNvPr id="15" name="Shape 11"/>
          <p:cNvSpPr/>
          <p:nvPr/>
        </p:nvSpPr>
        <p:spPr>
          <a:xfrm>
            <a:off x="571500" y="3651740"/>
            <a:ext cx="3786188" cy="103405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0088" y="3933025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8" y="4047325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00163" y="3780327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Ministère de l'Énergie (Togo)</a:t>
            </a:r>
            <a:endParaRPr lang="en-US" sz="1090" dirty="0"/>
          </a:p>
        </p:txBody>
      </p:sp>
      <p:sp>
        <p:nvSpPr>
          <p:cNvPr id="19" name="Text 14"/>
          <p:cNvSpPr/>
          <p:nvPr/>
        </p:nvSpPr>
        <p:spPr>
          <a:xfrm>
            <a:off x="1300163" y="4030359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Autorité Gouvernementale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1300163" y="4242885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Cadrage réglementaire et alignement avec la stratégie énergétique nationale.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4786313" y="1821154"/>
            <a:ext cx="37861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64748B"/>
                </a:solidFill>
              </a:rPr>
              <a:t>Partenaire Technique &amp; Data</a:t>
            </a:r>
            <a:endParaRPr lang="en-US" sz="1193" dirty="0"/>
          </a:p>
        </p:txBody>
      </p:sp>
      <p:sp>
        <p:nvSpPr>
          <p:cNvPr id="22" name="Shape 17"/>
          <p:cNvSpPr/>
          <p:nvPr/>
        </p:nvSpPr>
        <p:spPr>
          <a:xfrm>
            <a:off x="4786313" y="2269424"/>
            <a:ext cx="3786188" cy="10340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4786313" y="2269424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19"/>
          <p:cNvSpPr/>
          <p:nvPr/>
        </p:nvSpPr>
        <p:spPr>
          <a:xfrm>
            <a:off x="8565356" y="2269424"/>
            <a:ext cx="7144" cy="10340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0"/>
          <p:cNvSpPr/>
          <p:nvPr/>
        </p:nvSpPr>
        <p:spPr>
          <a:xfrm>
            <a:off x="4786313" y="3296338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1"/>
          <p:cNvSpPr/>
          <p:nvPr/>
        </p:nvSpPr>
        <p:spPr>
          <a:xfrm>
            <a:off x="4786313" y="2269424"/>
            <a:ext cx="42863" cy="103405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2"/>
          <p:cNvSpPr/>
          <p:nvPr/>
        </p:nvSpPr>
        <p:spPr>
          <a:xfrm>
            <a:off x="4914900" y="2550709"/>
            <a:ext cx="457200" cy="457200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665009"/>
            <a:ext cx="17145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14975" y="2398012"/>
            <a:ext cx="29289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CEET Togo</a:t>
            </a:r>
            <a:endParaRPr lang="en-US" sz="1090" dirty="0"/>
          </a:p>
        </p:txBody>
      </p:sp>
      <p:sp>
        <p:nvSpPr>
          <p:cNvPr id="30" name="Text 24"/>
          <p:cNvSpPr/>
          <p:nvPr/>
        </p:nvSpPr>
        <p:spPr>
          <a:xfrm>
            <a:off x="5514975" y="2648043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Fournisseur de Données</a:t>
            </a:r>
            <a:endParaRPr lang="en-US" sz="784" dirty="0"/>
          </a:p>
        </p:txBody>
      </p:sp>
      <p:sp>
        <p:nvSpPr>
          <p:cNvPr id="31" name="Text 25"/>
          <p:cNvSpPr/>
          <p:nvPr/>
        </p:nvSpPr>
        <p:spPr>
          <a:xfrm>
            <a:off x="5514975" y="2860570"/>
            <a:ext cx="2928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Compagnie Énergie Électrique du Togo. Intégration technique et accès aux données de consommation.</a:t>
            </a:r>
            <a:endParaRPr lang="en-US" sz="780" dirty="0"/>
          </a:p>
        </p:txBody>
      </p:sp>
      <p:sp>
        <p:nvSpPr>
          <p:cNvPr id="32" name="Shape 26"/>
          <p:cNvSpPr/>
          <p:nvPr/>
        </p:nvSpPr>
        <p:spPr>
          <a:xfrm>
            <a:off x="4786313" y="3417782"/>
            <a:ext cx="3786188" cy="102334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27"/>
          <p:cNvSpPr/>
          <p:nvPr/>
        </p:nvSpPr>
        <p:spPr>
          <a:xfrm>
            <a:off x="4914900" y="3546370"/>
            <a:ext cx="3529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Synergie de Données</a:t>
            </a:r>
            <a:endParaRPr lang="en-US" sz="987" dirty="0"/>
          </a:p>
        </p:txBody>
      </p:sp>
      <p:sp>
        <p:nvSpPr>
          <p:cNvPr id="34" name="Text 28"/>
          <p:cNvSpPr/>
          <p:nvPr/>
        </p:nvSpPr>
        <p:spPr>
          <a:xfrm>
            <a:off x="4914900" y="3798187"/>
            <a:ext cx="3529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La collaboration entre les autorités publiques et les fournisseurs d'énergie est la clé pour transformer les données éparses en souveraineté énergétique.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172A"/>
                </a:solidFill>
              </a:rPr>
              <a:t>Appel à l'Action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869653"/>
            <a:ext cx="4130371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Transformons les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données éparses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 en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décisions stratégiques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0F172A"/>
                </a:solidFill>
              </a:rPr>
              <a:t>.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3715531"/>
            <a:ext cx="4130371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475569"/>
                </a:solidFill>
              </a:rPr>
              <a:t>Le projet EnergiSight est prêt pour sa phase pilote. Votre collaboration est la clé pour valider ce saut technologique à Lomé.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5130496" y="1861589"/>
            <a:ext cx="3442004" cy="2616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130496" y="1861589"/>
            <a:ext cx="3442004" cy="714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5416246" y="2068757"/>
            <a:ext cx="287050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10B981"/>
                </a:solidFill>
              </a:rPr>
              <a:t>Besoins Immédiats</a:t>
            </a:r>
            <a:endParaRPr lang="en-US" sz="1397" dirty="0"/>
          </a:p>
        </p:txBody>
      </p:sp>
      <p:sp>
        <p:nvSpPr>
          <p:cNvPr id="9" name="Shape 6"/>
          <p:cNvSpPr/>
          <p:nvPr/>
        </p:nvSpPr>
        <p:spPr>
          <a:xfrm>
            <a:off x="5416246" y="2556318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416246" y="255631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1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844871" y="2556318"/>
            <a:ext cx="244187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Accès aux données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 Échantillon 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factures anonymisées pour la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calibration finale du modèle.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16246" y="3413568"/>
            <a:ext cx="285750" cy="2857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416246" y="341356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2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844871" y="3413568"/>
            <a:ext cx="244187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Support Pilote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 Accompagnement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institutionnel pour le déploiement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sur un quartier cible.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675584"/>
            <a:ext cx="9144000" cy="4679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4675584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848820"/>
            <a:ext cx="128588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1525" y="4825603"/>
            <a:ext cx="14085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contact@greensight.tg</a:t>
            </a:r>
            <a:endParaRPr lang="en-US" sz="942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33" y="4848820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49958" y="4825603"/>
            <a:ext cx="11798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www.greensight.tg</a:t>
            </a:r>
            <a:endParaRPr lang="en-US" sz="942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598" y="4848820"/>
            <a:ext cx="112514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3550" y="4825603"/>
            <a:ext cx="8889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EnergiSight AI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952574"/>
            <a:ext cx="71437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0B981"/>
                </a:solidFill>
              </a:rPr>
              <a:t>Conclusion : Une Nouvelle ère pour l'Urbanisme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1000125" y="2198433"/>
            <a:ext cx="71437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EnergiSight prouve que la rareté des données n'est pas une fatalité. Grâce 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au </a:t>
            </a:r>
            <a:pPr algn="ctr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8FAFC"/>
                </a:solidFill>
              </a:rPr>
              <a:t>Transfer Learning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 et aux statistiques nationales, Lomé peut </a:t>
            </a:r>
            <a:pPr algn="ctr" indent="0" marL="0">
              <a:lnSpc>
                <a:spcPts val="2500"/>
              </a:lnSpc>
              <a:buNone/>
            </a:pPr>
            <a:r>
              <a:rPr lang="en-US" sz="1397" b="1" dirty="0">
                <a:solidFill>
                  <a:srgbClr val="F8FAFC"/>
                </a:solidFill>
              </a:rPr>
              <a:t>"sauter les étapes"</a:t>
            </a:r>
            <a:pPr algn="ctr" indent="0" marL="0">
              <a:lnSpc>
                <a:spcPts val="2500"/>
              </a:lnSpc>
              <a:buNone/>
            </a:pPr>
            <a:r>
              <a:rPr lang="en-US" sz="1486" dirty="0">
                <a:solidFill>
                  <a:srgbClr val="CBD5E1"/>
                </a:solidFill>
              </a:rPr>
              <a:t> vers une gestion intelligente et durable.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1000125" y="3729986"/>
            <a:ext cx="7143750" cy="650081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AFC"/>
                </a:solidFill>
              </a:rPr>
              <a:t>Vers une souveraineté énergétique pilotée par la donnée.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4480917"/>
            <a:ext cx="2338518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GreenSight - Février 2026 - Lomé, Togo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43" y="4512171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83230" y="4480917"/>
            <a:ext cx="9892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EnergiSight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2026-02-17T16:37:10Z</dcterms:created>
  <dcterms:modified xsi:type="dcterms:W3CDTF">2026-02-17T16:37:10Z</dcterms:modified>
</cp:coreProperties>
</file>